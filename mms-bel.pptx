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4">
  <p:sldMasterIdLst>
    <p:sldMasterId id="2147483648" r:id="rId1"/>
  </p:sldMasterIdLst>
  <p:notesMasterIdLst>
    <p:notesMasterId r:id="rId17"/>
  </p:notesMasterIdLst>
  <p:handoutMasterIdLst>
    <p:handoutMasterId r:id="rId18"/>
  </p:handoutMasterIdLst>
  <p:sldIdLst>
    <p:sldId id="256" r:id="rId2"/>
    <p:sldId id="497" r:id="rId3"/>
    <p:sldId id="397" r:id="rId4"/>
    <p:sldId id="493" r:id="rId5"/>
    <p:sldId id="460" r:id="rId6"/>
    <p:sldId id="481" r:id="rId7"/>
    <p:sldId id="462" r:id="rId8"/>
    <p:sldId id="465" r:id="rId9"/>
    <p:sldId id="492" r:id="rId10"/>
    <p:sldId id="495" r:id="rId11"/>
    <p:sldId id="498" r:id="rId12"/>
    <p:sldId id="499" r:id="rId13"/>
    <p:sldId id="500" r:id="rId14"/>
    <p:sldId id="496" r:id="rId15"/>
    <p:sldId id="382" r:id="rId16"/>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ratibhac" initials="p"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00FF"/>
    <a:srgbClr val="FFFFFF"/>
    <a:srgbClr val="FFFF99"/>
    <a:srgbClr val="FFFFCC"/>
    <a:srgbClr val="CC99FF"/>
    <a:srgbClr val="99FFCC"/>
    <a:srgbClr val="FFCC00"/>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94" autoAdjust="0"/>
  </p:normalViewPr>
  <p:slideViewPr>
    <p:cSldViewPr>
      <p:cViewPr varScale="1">
        <p:scale>
          <a:sx n="104" d="100"/>
          <a:sy n="104" d="100"/>
        </p:scale>
        <p:origin x="1824" y="114"/>
      </p:cViewPr>
      <p:guideLst>
        <p:guide orient="horz" pos="1920"/>
        <p:guide pos="2880"/>
      </p:guideLst>
    </p:cSldViewPr>
  </p:slideViewPr>
  <p:notesTextViewPr>
    <p:cViewPr>
      <p:scale>
        <a:sx n="1" d="1"/>
        <a:sy n="1" d="1"/>
      </p:scale>
      <p:origin x="0" y="0"/>
    </p:cViewPr>
  </p:notesTextViewPr>
  <p:sorterViewPr>
    <p:cViewPr>
      <p:scale>
        <a:sx n="66" d="100"/>
        <a:sy n="66" d="100"/>
      </p:scale>
      <p:origin x="0" y="192"/>
    </p:cViewPr>
  </p:sorterViewPr>
  <p:notesViewPr>
    <p:cSldViewPr>
      <p:cViewPr varScale="1">
        <p:scale>
          <a:sx n="53" d="100"/>
          <a:sy n="53" d="100"/>
        </p:scale>
        <p:origin x="-2868" y="-90"/>
      </p:cViewPr>
      <p:guideLst>
        <p:guide orient="horz" pos="3127"/>
        <p:guide pos="214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2945659" cy="496333"/>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50445" y="0"/>
            <a:ext cx="2945659" cy="496333"/>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E17FB0C-4CFB-4DB5-A9F2-C8AFE899451F}" type="datetimeFigureOut">
              <a:rPr lang="en-US"/>
              <a:pPr>
                <a:defRPr/>
              </a:pPr>
              <a:t>1/17/2026</a:t>
            </a:fld>
            <a:endParaRPr lang="en-US"/>
          </a:p>
        </p:txBody>
      </p:sp>
      <p:sp>
        <p:nvSpPr>
          <p:cNvPr id="4" name="Footer Placeholder 3"/>
          <p:cNvSpPr>
            <a:spLocks noGrp="1"/>
          </p:cNvSpPr>
          <p:nvPr>
            <p:ph type="ftr" sz="quarter" idx="2"/>
          </p:nvPr>
        </p:nvSpPr>
        <p:spPr>
          <a:xfrm>
            <a:off x="3" y="9428584"/>
            <a:ext cx="2945659" cy="496333"/>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50445" y="9428584"/>
            <a:ext cx="2945659" cy="496333"/>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0B306386-680C-40E8-9D08-84D19235B998}" type="slidenum">
              <a:rPr lang="en-US"/>
              <a:pPr>
                <a:defRPr/>
              </a:pPr>
              <a:t>‹#›</a:t>
            </a:fld>
            <a:endParaRPr lang="en-US"/>
          </a:p>
        </p:txBody>
      </p:sp>
    </p:spTree>
    <p:extLst>
      <p:ext uri="{BB962C8B-B14F-4D97-AF65-F5344CB8AC3E}">
        <p14:creationId xmlns:p14="http://schemas.microsoft.com/office/powerpoint/2010/main" val="356022337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2945659" cy="496333"/>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50445" y="0"/>
            <a:ext cx="2945659" cy="496333"/>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BCC3A1C-3DBB-4568-ACC1-7D0434F32A88}" type="datetimeFigureOut">
              <a:rPr lang="en-US"/>
              <a:pPr>
                <a:defRPr/>
              </a:pPr>
              <a:t>1/17/2026</a:t>
            </a:fld>
            <a:endParaRPr lang="en-US"/>
          </a:p>
        </p:txBody>
      </p:sp>
      <p:sp>
        <p:nvSpPr>
          <p:cNvPr id="4" name="Slide Image Placeholder 3"/>
          <p:cNvSpPr>
            <a:spLocks noGrp="1" noRot="1" noChangeAspect="1"/>
          </p:cNvSpPr>
          <p:nvPr>
            <p:ph type="sldImg" idx="2"/>
          </p:nvPr>
        </p:nvSpPr>
        <p:spPr>
          <a:xfrm>
            <a:off x="917575" y="742950"/>
            <a:ext cx="4965700" cy="3725863"/>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79768" y="4715155"/>
            <a:ext cx="5438140" cy="4466987"/>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3" y="9428584"/>
            <a:ext cx="2945659" cy="496333"/>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50445" y="9428584"/>
            <a:ext cx="2945659" cy="496333"/>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8F7FAAD8-CAE9-474F-80FF-8F1761DCC0AE}" type="slidenum">
              <a:rPr lang="en-US"/>
              <a:pPr>
                <a:defRPr/>
              </a:pPr>
              <a:t>‹#›</a:t>
            </a:fld>
            <a:endParaRPr lang="en-US"/>
          </a:p>
        </p:txBody>
      </p:sp>
    </p:spTree>
    <p:extLst>
      <p:ext uri="{BB962C8B-B14F-4D97-AF65-F5344CB8AC3E}">
        <p14:creationId xmlns:p14="http://schemas.microsoft.com/office/powerpoint/2010/main" val="351478480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8F7FAAD8-CAE9-474F-80FF-8F1761DCC0AE}" type="slidenum">
              <a:rPr lang="en-US" smtClean="0"/>
              <a:pPr>
                <a:defRPr/>
              </a:pPr>
              <a:t>1</a:t>
            </a:fld>
            <a:endParaRPr lang="en-US" dirty="0"/>
          </a:p>
        </p:txBody>
      </p:sp>
      <p:sp>
        <p:nvSpPr>
          <p:cNvPr id="5" name="Footer Placeholder 4"/>
          <p:cNvSpPr>
            <a:spLocks noGrp="1"/>
          </p:cNvSpPr>
          <p:nvPr>
            <p:ph type="ftr" sz="quarter" idx="11"/>
          </p:nvPr>
        </p:nvSpPr>
        <p:spPr/>
        <p:txBody>
          <a:bodyPr/>
          <a:lstStyle/>
          <a:p>
            <a:pPr>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8F7FAAD8-CAE9-474F-80FF-8F1761DCC0AE}" type="slidenum">
              <a:rPr lang="en-US" smtClean="0"/>
              <a:pPr>
                <a:defRPr/>
              </a:pPr>
              <a:t>3</a:t>
            </a:fld>
            <a:endParaRPr lang="en-US" dirty="0"/>
          </a:p>
        </p:txBody>
      </p:sp>
      <p:sp>
        <p:nvSpPr>
          <p:cNvPr id="5" name="Footer Placeholder 4"/>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608608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7"/>
          <p:cNvPicPr>
            <a:picLocks noChangeAspect="1"/>
          </p:cNvPicPr>
          <p:nvPr userDrawn="1"/>
        </p:nvPicPr>
        <p:blipFill>
          <a:blip r:embed="rId2" cstate="print"/>
          <a:srcRect/>
          <a:stretch>
            <a:fillRect/>
          </a:stretch>
        </p:blipFill>
        <p:spPr bwMode="auto">
          <a:xfrm>
            <a:off x="60325" y="0"/>
            <a:ext cx="9023350" cy="6858000"/>
          </a:xfrm>
          <a:prstGeom prst="rect">
            <a:avLst/>
          </a:prstGeom>
          <a:noFill/>
          <a:ln w="9525">
            <a:noFill/>
            <a:miter lim="800000"/>
            <a:headEnd/>
            <a:tailEnd/>
          </a:ln>
        </p:spPr>
      </p:pic>
      <p:pic>
        <p:nvPicPr>
          <p:cNvPr id="3" name="Picture 8"/>
          <p:cNvPicPr>
            <a:picLocks noChangeAspect="1"/>
          </p:cNvPicPr>
          <p:nvPr userDrawn="1"/>
        </p:nvPicPr>
        <p:blipFill>
          <a:blip r:embed="rId3" cstate="print"/>
          <a:srcRect/>
          <a:stretch>
            <a:fillRect/>
          </a:stretch>
        </p:blipFill>
        <p:spPr bwMode="auto">
          <a:xfrm>
            <a:off x="2940050" y="569913"/>
            <a:ext cx="3263900" cy="869950"/>
          </a:xfrm>
          <a:prstGeom prst="rect">
            <a:avLst/>
          </a:prstGeom>
          <a:noFill/>
          <a:ln w="9525">
            <a:noFill/>
            <a:miter lim="800000"/>
            <a:headEnd/>
            <a:tailEnd/>
          </a:ln>
        </p:spPr>
      </p:pic>
      <p:sp>
        <p:nvSpPr>
          <p:cNvPr id="4" name="TextBox 3"/>
          <p:cNvSpPr txBox="1"/>
          <p:nvPr userDrawn="1"/>
        </p:nvSpPr>
        <p:spPr>
          <a:xfrm>
            <a:off x="4876800" y="3762375"/>
            <a:ext cx="3924300" cy="733425"/>
          </a:xfrm>
          <a:prstGeom prst="rect">
            <a:avLst/>
          </a:prstGeom>
          <a:noFill/>
        </p:spPr>
        <p:txBody>
          <a:bodyPr>
            <a:spAutoFit/>
          </a:bodyPr>
          <a:lstStyle/>
          <a:p>
            <a:pPr algn="r" fontAlgn="auto">
              <a:lnSpc>
                <a:spcPts val="2500"/>
              </a:lnSpc>
              <a:spcBef>
                <a:spcPts val="0"/>
              </a:spcBef>
              <a:spcAft>
                <a:spcPts val="0"/>
              </a:spcAft>
              <a:defRPr/>
            </a:pPr>
            <a:r>
              <a:rPr lang="en-US" b="1" dirty="0">
                <a:solidFill>
                  <a:schemeClr val="tx1">
                    <a:lumMod val="50000"/>
                  </a:schemeClr>
                </a:solidFill>
                <a:latin typeface="+mn-lt"/>
                <a:cs typeface="+mn-cs"/>
              </a:rPr>
              <a:t>Shri. G. Mohan Kumar</a:t>
            </a:r>
          </a:p>
          <a:p>
            <a:pPr algn="r" fontAlgn="auto">
              <a:lnSpc>
                <a:spcPts val="2500"/>
              </a:lnSpc>
              <a:spcBef>
                <a:spcPts val="0"/>
              </a:spcBef>
              <a:spcAft>
                <a:spcPts val="0"/>
              </a:spcAft>
              <a:defRPr/>
            </a:pPr>
            <a:r>
              <a:rPr lang="en-US" sz="1400" dirty="0">
                <a:solidFill>
                  <a:schemeClr val="tx1">
                    <a:lumMod val="50000"/>
                  </a:schemeClr>
                </a:solidFill>
                <a:latin typeface="+mn-lt"/>
                <a:cs typeface="+mn-cs"/>
              </a:rPr>
              <a:t>Secretary - </a:t>
            </a:r>
            <a:r>
              <a:rPr lang="en-US" sz="1400" dirty="0" err="1">
                <a:solidFill>
                  <a:schemeClr val="tx1">
                    <a:lumMod val="50000"/>
                  </a:schemeClr>
                </a:solidFill>
                <a:latin typeface="+mn-lt"/>
                <a:cs typeface="+mn-cs"/>
              </a:rPr>
              <a:t>Defence</a:t>
            </a:r>
            <a:r>
              <a:rPr lang="en-US" sz="1400" dirty="0">
                <a:solidFill>
                  <a:schemeClr val="tx1">
                    <a:lumMod val="50000"/>
                  </a:schemeClr>
                </a:solidFill>
                <a:latin typeface="+mn-lt"/>
                <a:cs typeface="+mn-cs"/>
              </a:rPr>
              <a:t> Production</a:t>
            </a:r>
          </a:p>
        </p:txBody>
      </p:sp>
      <p:sp>
        <p:nvSpPr>
          <p:cNvPr id="5" name="TextBox 4"/>
          <p:cNvSpPr txBox="1"/>
          <p:nvPr userDrawn="1"/>
        </p:nvSpPr>
        <p:spPr>
          <a:xfrm>
            <a:off x="4876800" y="3335338"/>
            <a:ext cx="3924300" cy="427037"/>
          </a:xfrm>
          <a:prstGeom prst="rect">
            <a:avLst/>
          </a:prstGeom>
          <a:noFill/>
        </p:spPr>
        <p:txBody>
          <a:bodyPr>
            <a:spAutoFit/>
          </a:bodyPr>
          <a:lstStyle/>
          <a:p>
            <a:pPr algn="r" fontAlgn="auto">
              <a:lnSpc>
                <a:spcPts val="2500"/>
              </a:lnSpc>
              <a:spcBef>
                <a:spcPts val="0"/>
              </a:spcBef>
              <a:spcAft>
                <a:spcPts val="0"/>
              </a:spcAft>
              <a:defRPr/>
            </a:pPr>
            <a:r>
              <a:rPr lang="en-US" sz="2800" dirty="0">
                <a:solidFill>
                  <a:schemeClr val="tx1">
                    <a:lumMod val="50000"/>
                  </a:schemeClr>
                </a:solidFill>
                <a:latin typeface="+mn-lt"/>
                <a:cs typeface="+mn-cs"/>
              </a:rPr>
              <a:t>Hearty Welcome  to</a:t>
            </a:r>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2F12015E-2EC1-493B-AC18-5D605B35E823}" type="slidenum">
              <a:rPr lang="en-US"/>
              <a:pPr>
                <a:defRPr/>
              </a:pPr>
              <a:t>‹#›</a:t>
            </a:fld>
            <a:endParaRPr lang="en-US"/>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B92475-1994-407E-B991-1150DC507930}" type="slidenum">
              <a:rPr lang="en-US"/>
              <a:pPr>
                <a:defRPr/>
              </a:pPr>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4" name="Picture 4" descr="E:\source\Bharat electronics\BEL\2000px-Bharat_Electronics_logo.svg.png"/>
          <p:cNvPicPr>
            <a:picLocks noChangeAspect="1" noChangeArrowheads="1"/>
          </p:cNvPicPr>
          <p:nvPr userDrawn="1"/>
        </p:nvPicPr>
        <p:blipFill>
          <a:blip r:embed="rId2" cstate="print"/>
          <a:srcRect/>
          <a:stretch>
            <a:fillRect/>
          </a:stretch>
        </p:blipFill>
        <p:spPr bwMode="auto">
          <a:xfrm>
            <a:off x="7275513" y="315913"/>
            <a:ext cx="1676400" cy="446087"/>
          </a:xfrm>
          <a:prstGeom prst="rect">
            <a:avLst/>
          </a:prstGeom>
          <a:noFill/>
          <a:ln w="9525">
            <a:noFill/>
            <a:miter lim="800000"/>
            <a:headEnd/>
            <a:tailEnd/>
          </a:ln>
        </p:spPr>
      </p:pic>
      <p:grpSp>
        <p:nvGrpSpPr>
          <p:cNvPr id="5" name="Group 4"/>
          <p:cNvGrpSpPr/>
          <p:nvPr userDrawn="1"/>
        </p:nvGrpSpPr>
        <p:grpSpPr>
          <a:xfrm>
            <a:off x="152400" y="792833"/>
            <a:ext cx="8841682" cy="218088"/>
            <a:chOff x="457200" y="783758"/>
            <a:chExt cx="9289288" cy="261706"/>
          </a:xfrm>
          <a:solidFill>
            <a:srgbClr val="19C3FF"/>
          </a:solidFill>
        </p:grpSpPr>
        <p:sp>
          <p:nvSpPr>
            <p:cNvPr id="6" name="Rectangle 5"/>
            <p:cNvSpPr/>
            <p:nvPr/>
          </p:nvSpPr>
          <p:spPr>
            <a:xfrm>
              <a:off x="457200" y="990600"/>
              <a:ext cx="9289288" cy="548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ight Triangle 7"/>
            <p:cNvSpPr/>
            <p:nvPr/>
          </p:nvSpPr>
          <p:spPr>
            <a:xfrm>
              <a:off x="457200" y="783758"/>
              <a:ext cx="206844" cy="20684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2" name="Title 1"/>
          <p:cNvSpPr>
            <a:spLocks noGrp="1"/>
          </p:cNvSpPr>
          <p:nvPr>
            <p:ph type="title"/>
          </p:nvPr>
        </p:nvSpPr>
        <p:spPr/>
        <p:txBody>
          <a:bodyPr/>
          <a:lstStyle>
            <a:lvl1pPr>
              <a:defRPr b="0">
                <a:solidFill>
                  <a:srgbClr val="377BCD"/>
                </a:solidFill>
              </a:defRPr>
            </a:lvl1pPr>
          </a:lstStyle>
          <a:p>
            <a:r>
              <a:rPr lang="en-US"/>
              <a:t>Click to edit Master title style</a:t>
            </a:r>
          </a:p>
        </p:txBody>
      </p:sp>
      <p:sp>
        <p:nvSpPr>
          <p:cNvPr id="7" name="Text Placeholder 6"/>
          <p:cNvSpPr>
            <a:spLocks noGrp="1"/>
          </p:cNvSpPr>
          <p:nvPr>
            <p:ph type="body" sz="quarter" idx="13"/>
          </p:nvPr>
        </p:nvSpPr>
        <p:spPr>
          <a:xfrm>
            <a:off x="457200" y="967944"/>
            <a:ext cx="6934200" cy="457200"/>
          </a:xfrm>
        </p:spPr>
        <p:txBody>
          <a:bodyPr>
            <a:noAutofit/>
          </a:bodyPr>
          <a:lstStyle>
            <a:lvl1pPr marL="0" indent="0">
              <a:buNone/>
              <a:defRPr sz="2800">
                <a:solidFill>
                  <a:srgbClr val="377BCD"/>
                </a:solidFill>
              </a:defRPr>
            </a:lvl1pPr>
          </a:lstStyle>
          <a:p>
            <a:pPr lvl="0"/>
            <a:r>
              <a:rPr lang="en-US" dirty="0"/>
              <a:t>Click to edit Master text styles</a:t>
            </a:r>
          </a:p>
        </p:txBody>
      </p:sp>
      <p:sp>
        <p:nvSpPr>
          <p:cNvPr id="9" name="Date Placeholder 2"/>
          <p:cNvSpPr>
            <a:spLocks noGrp="1"/>
          </p:cNvSpPr>
          <p:nvPr>
            <p:ph type="dt" sz="half" idx="14"/>
          </p:nvPr>
        </p:nvSpPr>
        <p:spPr/>
        <p:txBody>
          <a:bodyPr/>
          <a:lstStyle>
            <a:lvl1pPr>
              <a:defRPr/>
            </a:lvl1pPr>
          </a:lstStyle>
          <a:p>
            <a:pPr>
              <a:defRPr/>
            </a:pPr>
            <a:endParaRPr lang="en-US"/>
          </a:p>
        </p:txBody>
      </p:sp>
      <p:sp>
        <p:nvSpPr>
          <p:cNvPr id="10" name="Footer Placeholder 3"/>
          <p:cNvSpPr>
            <a:spLocks noGrp="1"/>
          </p:cNvSpPr>
          <p:nvPr>
            <p:ph type="ftr" sz="quarter" idx="15"/>
          </p:nvPr>
        </p:nvSpPr>
        <p:spPr/>
        <p:txBody>
          <a:bodyPr/>
          <a:lstStyle>
            <a:lvl1pPr>
              <a:defRPr/>
            </a:lvl1pPr>
          </a:lstStyle>
          <a:p>
            <a:pPr>
              <a:defRPr/>
            </a:pPr>
            <a:endParaRPr lang="en-US"/>
          </a:p>
        </p:txBody>
      </p:sp>
      <p:sp>
        <p:nvSpPr>
          <p:cNvPr id="11" name="Slide Number Placeholder 4"/>
          <p:cNvSpPr>
            <a:spLocks noGrp="1"/>
          </p:cNvSpPr>
          <p:nvPr>
            <p:ph type="sldNum" sz="quarter" idx="16"/>
          </p:nvPr>
        </p:nvSpPr>
        <p:spPr/>
        <p:txBody>
          <a:bodyPr/>
          <a:lstStyle>
            <a:lvl1pPr>
              <a:defRPr/>
            </a:lvl1pPr>
          </a:lstStyle>
          <a:p>
            <a:pPr>
              <a:defRPr/>
            </a:pPr>
            <a:fld id="{0629659C-4511-43ED-BB93-4246E9669B29}" type="slidenum">
              <a:rPr lang="en-US"/>
              <a:pPr>
                <a:defRPr/>
              </a:pPr>
              <a:t>‹#›</a:t>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Title and Content">
    <p:spTree>
      <p:nvGrpSpPr>
        <p:cNvPr id="1" name=""/>
        <p:cNvGrpSpPr/>
        <p:nvPr/>
      </p:nvGrpSpPr>
      <p:grpSpPr>
        <a:xfrm>
          <a:off x="0" y="0"/>
          <a:ext cx="0" cy="0"/>
          <a:chOff x="0" y="0"/>
          <a:chExt cx="0" cy="0"/>
        </a:xfrm>
      </p:grpSpPr>
      <p:sp>
        <p:nvSpPr>
          <p:cNvPr id="4" name="Rectangle 3"/>
          <p:cNvSpPr/>
          <p:nvPr userDrawn="1"/>
        </p:nvSpPr>
        <p:spPr>
          <a:xfrm>
            <a:off x="152400" y="152400"/>
            <a:ext cx="8841682" cy="6602506"/>
          </a:xfrm>
          <a:prstGeom prst="rect">
            <a:avLst/>
          </a:prstGeom>
          <a:gradFill flip="none" rotWithShape="1">
            <a:gsLst>
              <a:gs pos="100000">
                <a:schemeClr val="bg1">
                  <a:lumMod val="92000"/>
                </a:schemeClr>
              </a:gs>
              <a:gs pos="0">
                <a:srgbClr val="B7ECFF">
                  <a:alpha val="69000"/>
                  <a:lumMod val="36000"/>
                  <a:lumOff val="64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5" name="Picture 8" descr="E:\source\Bharat electronics\BEL\2000px-Bharat_Electronics_logo.svg.png"/>
          <p:cNvPicPr>
            <a:picLocks noChangeAspect="1" noChangeArrowheads="1"/>
          </p:cNvPicPr>
          <p:nvPr userDrawn="1"/>
        </p:nvPicPr>
        <p:blipFill>
          <a:blip r:embed="rId2" cstate="print"/>
          <a:srcRect/>
          <a:stretch>
            <a:fillRect/>
          </a:stretch>
        </p:blipFill>
        <p:spPr bwMode="auto">
          <a:xfrm>
            <a:off x="7275513" y="315913"/>
            <a:ext cx="1676400" cy="446087"/>
          </a:xfrm>
          <a:prstGeom prst="rect">
            <a:avLst/>
          </a:prstGeom>
          <a:noFill/>
          <a:ln w="9525">
            <a:noFill/>
            <a:miter lim="800000"/>
            <a:headEnd/>
            <a:tailEnd/>
          </a:ln>
        </p:spPr>
      </p:pic>
      <p:grpSp>
        <p:nvGrpSpPr>
          <p:cNvPr id="7" name="Group 27"/>
          <p:cNvGrpSpPr/>
          <p:nvPr userDrawn="1"/>
        </p:nvGrpSpPr>
        <p:grpSpPr>
          <a:xfrm>
            <a:off x="152400" y="792833"/>
            <a:ext cx="8841682" cy="218088"/>
            <a:chOff x="457200" y="783758"/>
            <a:chExt cx="9289288" cy="261706"/>
          </a:xfrm>
          <a:solidFill>
            <a:srgbClr val="19C3FF"/>
          </a:solidFill>
        </p:grpSpPr>
        <p:sp>
          <p:nvSpPr>
            <p:cNvPr id="8" name="Rectangle 7"/>
            <p:cNvSpPr/>
            <p:nvPr/>
          </p:nvSpPr>
          <p:spPr>
            <a:xfrm>
              <a:off x="457200" y="990600"/>
              <a:ext cx="9289288" cy="548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ight Triangle 8"/>
            <p:cNvSpPr/>
            <p:nvPr/>
          </p:nvSpPr>
          <p:spPr>
            <a:xfrm>
              <a:off x="457200" y="783758"/>
              <a:ext cx="206844" cy="20684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2" name="Title 1"/>
          <p:cNvSpPr>
            <a:spLocks noGrp="1"/>
          </p:cNvSpPr>
          <p:nvPr>
            <p:ph type="title"/>
          </p:nvPr>
        </p:nvSpPr>
        <p:spPr/>
        <p:txBody>
          <a:bodyPr/>
          <a:lstStyle>
            <a:lvl1pPr>
              <a:defRPr b="0">
                <a:solidFill>
                  <a:srgbClr val="377BCD"/>
                </a:solidFill>
              </a:defRPr>
            </a:lvl1pPr>
          </a:lstStyle>
          <a:p>
            <a:r>
              <a:rPr lang="en-US" dirty="0"/>
              <a:t>Click to edit Master title style</a:t>
            </a:r>
          </a:p>
        </p:txBody>
      </p:sp>
      <p:sp>
        <p:nvSpPr>
          <p:cNvPr id="6" name="Text Placeholder 5"/>
          <p:cNvSpPr>
            <a:spLocks noGrp="1"/>
          </p:cNvSpPr>
          <p:nvPr>
            <p:ph type="body" sz="quarter" idx="10"/>
          </p:nvPr>
        </p:nvSpPr>
        <p:spPr>
          <a:xfrm>
            <a:off x="465265" y="914400"/>
            <a:ext cx="7016750" cy="436562"/>
          </a:xfrm>
        </p:spPr>
        <p:txBody>
          <a:bodyPr>
            <a:noAutofit/>
          </a:bodyPr>
          <a:lstStyle>
            <a:lvl1pPr marL="0" indent="0">
              <a:buNone/>
              <a:defRPr sz="2800">
                <a:solidFill>
                  <a:srgbClr val="377BCD"/>
                </a:solidFill>
              </a:defRPr>
            </a:lvl1pPr>
          </a:lstStyle>
          <a:p>
            <a:pPr lvl="0"/>
            <a:r>
              <a:rPr lang="en-US" dirty="0"/>
              <a:t>Click to edit Master text styles</a:t>
            </a: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377BCD"/>
                </a:solidFil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6066ED06-ADEC-4ED7-A1C4-6F5F6738B819}" type="slidenum">
              <a:rPr lang="en-US"/>
              <a:pPr>
                <a:defRPr/>
              </a:pPr>
              <a:t>‹#›</a:t>
            </a:fld>
            <a:endParaRPr lang="en-US"/>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4AF84CA-26F2-4D60-A432-6F5FAC86305D}" type="slidenum">
              <a:rPr lang="en-US"/>
              <a:pPr>
                <a:defRPr/>
              </a:pPr>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4" name="Rectangle 3"/>
          <p:cNvSpPr/>
          <p:nvPr userDrawn="1"/>
        </p:nvSpPr>
        <p:spPr>
          <a:xfrm>
            <a:off x="152400" y="152400"/>
            <a:ext cx="8841682" cy="6602506"/>
          </a:xfrm>
          <a:prstGeom prst="rect">
            <a:avLst/>
          </a:prstGeom>
          <a:gradFill flip="none" rotWithShape="1">
            <a:gsLst>
              <a:gs pos="100000">
                <a:schemeClr val="bg1">
                  <a:lumMod val="92000"/>
                </a:schemeClr>
              </a:gs>
              <a:gs pos="0">
                <a:srgbClr val="B7ECFF">
                  <a:alpha val="69000"/>
                  <a:lumMod val="36000"/>
                  <a:lumOff val="64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5" name="Picture 8" descr="E:\source\Bharat electronics\BEL\2000px-Bharat_Electronics_logo.svg.png"/>
          <p:cNvPicPr>
            <a:picLocks noChangeAspect="1" noChangeArrowheads="1"/>
          </p:cNvPicPr>
          <p:nvPr userDrawn="1"/>
        </p:nvPicPr>
        <p:blipFill>
          <a:blip r:embed="rId2" cstate="print"/>
          <a:srcRect/>
          <a:stretch>
            <a:fillRect/>
          </a:stretch>
        </p:blipFill>
        <p:spPr bwMode="auto">
          <a:xfrm>
            <a:off x="7275513" y="315913"/>
            <a:ext cx="1676400" cy="446087"/>
          </a:xfrm>
          <a:prstGeom prst="rect">
            <a:avLst/>
          </a:prstGeom>
          <a:noFill/>
          <a:ln w="9525">
            <a:noFill/>
            <a:miter lim="800000"/>
            <a:headEnd/>
            <a:tailEnd/>
          </a:ln>
        </p:spPr>
      </p:pic>
      <p:grpSp>
        <p:nvGrpSpPr>
          <p:cNvPr id="6" name="Group 27"/>
          <p:cNvGrpSpPr>
            <a:grpSpLocks/>
          </p:cNvGrpSpPr>
          <p:nvPr userDrawn="1"/>
        </p:nvGrpSpPr>
        <p:grpSpPr bwMode="auto">
          <a:xfrm>
            <a:off x="152400" y="792163"/>
            <a:ext cx="8842375" cy="219075"/>
            <a:chOff x="457200" y="783758"/>
            <a:chExt cx="9289288" cy="261706"/>
          </a:xfrm>
        </p:grpSpPr>
        <p:sp>
          <p:nvSpPr>
            <p:cNvPr id="7" name="Rectangle 6"/>
            <p:cNvSpPr/>
            <p:nvPr userDrawn="1"/>
          </p:nvSpPr>
          <p:spPr>
            <a:xfrm>
              <a:off x="457200" y="990467"/>
              <a:ext cx="9289288" cy="54997"/>
            </a:xfrm>
            <a:prstGeom prst="rect">
              <a:avLst/>
            </a:prstGeom>
            <a:solidFill>
              <a:srgbClr val="6DD9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ight Triangle 7"/>
            <p:cNvSpPr/>
            <p:nvPr userDrawn="1"/>
          </p:nvSpPr>
          <p:spPr>
            <a:xfrm>
              <a:off x="457200" y="783758"/>
              <a:ext cx="206799" cy="206709"/>
            </a:xfrm>
            <a:prstGeom prst="rtTriangle">
              <a:avLst/>
            </a:prstGeom>
            <a:solidFill>
              <a:srgbClr val="6DD9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p:nvPr>
        </p:nvSpPr>
        <p:spPr/>
        <p:txBody>
          <a:bodyPr/>
          <a:lstStyle/>
          <a:p>
            <a:r>
              <a:rPr lang="en-US" dirty="0"/>
              <a:t>Click to edit Master title style</a:t>
            </a: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52400" y="152400"/>
            <a:ext cx="8841682" cy="6602506"/>
          </a:xfrm>
          <a:prstGeom prst="rect">
            <a:avLst/>
          </a:prstGeom>
          <a:gradFill flip="none" rotWithShape="1">
            <a:gsLst>
              <a:gs pos="100000">
                <a:schemeClr val="bg1">
                  <a:lumMod val="92000"/>
                </a:schemeClr>
              </a:gs>
              <a:gs pos="0">
                <a:srgbClr val="B7ECFF">
                  <a:alpha val="69000"/>
                  <a:lumMod val="36000"/>
                  <a:lumOff val="64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2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3343AD33-3F82-4C19-9B83-7261C4AF7969}" type="slidenum">
              <a:rPr lang="en-US"/>
              <a:pPr>
                <a:defRPr/>
              </a:pPr>
              <a:t>‹#›</a:t>
            </a:fld>
            <a:endParaRPr lang="en-US"/>
          </a:p>
        </p:txBody>
      </p:sp>
      <p:sp>
        <p:nvSpPr>
          <p:cNvPr id="9225" name="Title Placeholder 1"/>
          <p:cNvSpPr>
            <a:spLocks noGrp="1"/>
          </p:cNvSpPr>
          <p:nvPr>
            <p:ph type="title"/>
          </p:nvPr>
        </p:nvSpPr>
        <p:spPr bwMode="auto">
          <a:xfrm>
            <a:off x="457200" y="350838"/>
            <a:ext cx="6858000" cy="6397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91" r:id="rId1"/>
    <p:sldLayoutId id="2147483688" r:id="rId2"/>
    <p:sldLayoutId id="2147483692" r:id="rId3"/>
    <p:sldLayoutId id="2147483693" r:id="rId4"/>
    <p:sldLayoutId id="2147483689" r:id="rId5"/>
    <p:sldLayoutId id="2147483690" r:id="rId6"/>
    <p:sldLayoutId id="2147483694" r:id="rId7"/>
  </p:sldLayoutIdLst>
  <p:transition spd="med">
    <p:fade/>
  </p:transition>
  <p:hf hdr="0" dt="0"/>
  <p:txStyles>
    <p:titleStyle>
      <a:lvl1pPr algn="l" rtl="0" eaLnBrk="0" fontAlgn="base" hangingPunct="0">
        <a:spcBef>
          <a:spcPct val="0"/>
        </a:spcBef>
        <a:spcAft>
          <a:spcPct val="0"/>
        </a:spcAft>
        <a:defRPr sz="3200" kern="1200">
          <a:solidFill>
            <a:srgbClr val="377BCD"/>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3200">
          <a:solidFill>
            <a:srgbClr val="377BCD"/>
          </a:solidFill>
          <a:latin typeface="Arial" charset="0"/>
          <a:cs typeface="Arial" charset="0"/>
        </a:defRPr>
      </a:lvl2pPr>
      <a:lvl3pPr algn="l" rtl="0" eaLnBrk="0" fontAlgn="base" hangingPunct="0">
        <a:spcBef>
          <a:spcPct val="0"/>
        </a:spcBef>
        <a:spcAft>
          <a:spcPct val="0"/>
        </a:spcAft>
        <a:defRPr sz="3200">
          <a:solidFill>
            <a:srgbClr val="377BCD"/>
          </a:solidFill>
          <a:latin typeface="Arial" charset="0"/>
          <a:cs typeface="Arial" charset="0"/>
        </a:defRPr>
      </a:lvl3pPr>
      <a:lvl4pPr algn="l" rtl="0" eaLnBrk="0" fontAlgn="base" hangingPunct="0">
        <a:spcBef>
          <a:spcPct val="0"/>
        </a:spcBef>
        <a:spcAft>
          <a:spcPct val="0"/>
        </a:spcAft>
        <a:defRPr sz="3200">
          <a:solidFill>
            <a:srgbClr val="377BCD"/>
          </a:solidFill>
          <a:latin typeface="Arial" charset="0"/>
          <a:cs typeface="Arial" charset="0"/>
        </a:defRPr>
      </a:lvl4pPr>
      <a:lvl5pPr algn="l" rtl="0" eaLnBrk="0" fontAlgn="base" hangingPunct="0">
        <a:spcBef>
          <a:spcPct val="0"/>
        </a:spcBef>
        <a:spcAft>
          <a:spcPct val="0"/>
        </a:spcAft>
        <a:defRPr sz="3200">
          <a:solidFill>
            <a:srgbClr val="377BCD"/>
          </a:solidFill>
          <a:latin typeface="Arial" charset="0"/>
          <a:cs typeface="Arial" charset="0"/>
        </a:defRPr>
      </a:lvl5pPr>
      <a:lvl6pPr marL="457200" algn="l" rtl="0" fontAlgn="base">
        <a:spcBef>
          <a:spcPct val="0"/>
        </a:spcBef>
        <a:spcAft>
          <a:spcPct val="0"/>
        </a:spcAft>
        <a:defRPr sz="3200">
          <a:solidFill>
            <a:srgbClr val="377BCD"/>
          </a:solidFill>
          <a:latin typeface="Arial" charset="0"/>
          <a:cs typeface="Arial" charset="0"/>
        </a:defRPr>
      </a:lvl6pPr>
      <a:lvl7pPr marL="914400" algn="l" rtl="0" fontAlgn="base">
        <a:spcBef>
          <a:spcPct val="0"/>
        </a:spcBef>
        <a:spcAft>
          <a:spcPct val="0"/>
        </a:spcAft>
        <a:defRPr sz="3200">
          <a:solidFill>
            <a:srgbClr val="377BCD"/>
          </a:solidFill>
          <a:latin typeface="Arial" charset="0"/>
          <a:cs typeface="Arial" charset="0"/>
        </a:defRPr>
      </a:lvl7pPr>
      <a:lvl8pPr marL="1371600" algn="l" rtl="0" fontAlgn="base">
        <a:spcBef>
          <a:spcPct val="0"/>
        </a:spcBef>
        <a:spcAft>
          <a:spcPct val="0"/>
        </a:spcAft>
        <a:defRPr sz="3200">
          <a:solidFill>
            <a:srgbClr val="377BCD"/>
          </a:solidFill>
          <a:latin typeface="Arial" charset="0"/>
          <a:cs typeface="Arial" charset="0"/>
        </a:defRPr>
      </a:lvl8pPr>
      <a:lvl9pPr marL="1828800" algn="l" rtl="0" fontAlgn="base">
        <a:spcBef>
          <a:spcPct val="0"/>
        </a:spcBef>
        <a:spcAft>
          <a:spcPct val="0"/>
        </a:spcAft>
        <a:defRPr sz="3200">
          <a:solidFill>
            <a:srgbClr val="377BCD"/>
          </a:solidFill>
          <a:latin typeface="Arial" charset="0"/>
          <a:cs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9"/>
          <p:cNvPicPr>
            <a:picLocks noChangeAspect="1"/>
          </p:cNvPicPr>
          <p:nvPr/>
        </p:nvPicPr>
        <p:blipFill>
          <a:blip r:embed="rId3" cstate="print"/>
          <a:srcRect/>
          <a:stretch>
            <a:fillRect/>
          </a:stretch>
        </p:blipFill>
        <p:spPr bwMode="auto">
          <a:xfrm>
            <a:off x="19050" y="76200"/>
            <a:ext cx="9023350" cy="6858000"/>
          </a:xfrm>
          <a:prstGeom prst="rect">
            <a:avLst/>
          </a:prstGeom>
          <a:noFill/>
          <a:ln w="9525">
            <a:noFill/>
            <a:miter lim="800000"/>
            <a:headEnd/>
            <a:tailEnd/>
          </a:ln>
        </p:spPr>
      </p:pic>
      <p:sp>
        <p:nvSpPr>
          <p:cNvPr id="16" name="Rectangle 15"/>
          <p:cNvSpPr/>
          <p:nvPr/>
        </p:nvSpPr>
        <p:spPr>
          <a:xfrm>
            <a:off x="4114800" y="1910587"/>
            <a:ext cx="4724400" cy="1828800"/>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 name="TextBox 14"/>
          <p:cNvSpPr txBox="1"/>
          <p:nvPr/>
        </p:nvSpPr>
        <p:spPr>
          <a:xfrm>
            <a:off x="4267200" y="2409491"/>
            <a:ext cx="4572000" cy="830997"/>
          </a:xfrm>
          <a:prstGeom prst="rect">
            <a:avLst/>
          </a:prstGeom>
          <a:noFill/>
        </p:spPr>
        <p:txBody>
          <a:bodyPr wrap="square" anchor="ctr" anchorCtr="0">
            <a:spAutoFit/>
          </a:bodyPr>
          <a:lstStyle/>
          <a:p>
            <a:r>
              <a:rPr lang="en-US" sz="2400" b="1" dirty="0">
                <a:solidFill>
                  <a:schemeClr val="bg1"/>
                </a:solidFill>
              </a:rPr>
              <a:t>On the Job Training as a Probationary Engineer</a:t>
            </a:r>
            <a:endParaRPr lang="en-IN" sz="2400" b="1" dirty="0">
              <a:solidFill>
                <a:schemeClr val="bg1"/>
              </a:solidFill>
            </a:endParaRPr>
          </a:p>
        </p:txBody>
      </p:sp>
      <p:pic>
        <p:nvPicPr>
          <p:cNvPr id="14340" name="Picture 10"/>
          <p:cNvPicPr>
            <a:picLocks noChangeAspect="1"/>
          </p:cNvPicPr>
          <p:nvPr/>
        </p:nvPicPr>
        <p:blipFill>
          <a:blip r:embed="rId4" cstate="print"/>
          <a:srcRect/>
          <a:stretch>
            <a:fillRect/>
          </a:stretch>
        </p:blipFill>
        <p:spPr bwMode="auto">
          <a:xfrm>
            <a:off x="2940050" y="569913"/>
            <a:ext cx="3263900" cy="869950"/>
          </a:xfrm>
          <a:prstGeom prst="rect">
            <a:avLst/>
          </a:prstGeom>
          <a:noFill/>
          <a:ln w="9525">
            <a:noFill/>
            <a:miter lim="800000"/>
            <a:headEnd/>
            <a:tailEnd/>
          </a:ln>
        </p:spPr>
      </p:pic>
      <p:sp>
        <p:nvSpPr>
          <p:cNvPr id="2" name="TextBox 1">
            <a:extLst>
              <a:ext uri="{FF2B5EF4-FFF2-40B4-BE49-F238E27FC236}">
                <a16:creationId xmlns:a16="http://schemas.microsoft.com/office/drawing/2014/main" id="{1CE36786-9FB6-7D12-BB36-C61D8DE1DFB4}"/>
              </a:ext>
            </a:extLst>
          </p:cNvPr>
          <p:cNvSpPr txBox="1"/>
          <p:nvPr/>
        </p:nvSpPr>
        <p:spPr>
          <a:xfrm>
            <a:off x="7086600" y="4038600"/>
            <a:ext cx="2819400" cy="646331"/>
          </a:xfrm>
          <a:prstGeom prst="rect">
            <a:avLst/>
          </a:prstGeom>
          <a:noFill/>
        </p:spPr>
        <p:txBody>
          <a:bodyPr wrap="square" rtlCol="0">
            <a:spAutoFit/>
          </a:bodyPr>
          <a:lstStyle/>
          <a:p>
            <a:r>
              <a:rPr lang="en-US" b="1" dirty="0" err="1">
                <a:solidFill>
                  <a:srgbClr val="002060"/>
                </a:solidFill>
                <a:latin typeface="Tahoma" panose="020B0604030504040204" pitchFamily="34" charset="0"/>
                <a:ea typeface="Tahoma" panose="020B0604030504040204" pitchFamily="34" charset="0"/>
                <a:cs typeface="Tahoma" panose="020B0604030504040204" pitchFamily="34" charset="0"/>
              </a:rPr>
              <a:t>Banoth</a:t>
            </a:r>
            <a:r>
              <a:rPr lang="en-US" b="1" dirty="0">
                <a:solidFill>
                  <a:srgbClr val="002060"/>
                </a:solidFill>
                <a:latin typeface="Tahoma" panose="020B0604030504040204" pitchFamily="34" charset="0"/>
                <a:ea typeface="Tahoma" panose="020B0604030504040204" pitchFamily="34" charset="0"/>
                <a:cs typeface="Tahoma" panose="020B0604030504040204" pitchFamily="34" charset="0"/>
              </a:rPr>
              <a:t> Balaji</a:t>
            </a:r>
          </a:p>
          <a:p>
            <a:r>
              <a:rPr lang="en-US" b="1" dirty="0">
                <a:solidFill>
                  <a:srgbClr val="002060"/>
                </a:solidFill>
                <a:latin typeface="Tahoma" panose="020B0604030504040204" pitchFamily="34" charset="0"/>
                <a:ea typeface="Tahoma" panose="020B0604030504040204" pitchFamily="34" charset="0"/>
                <a:cs typeface="Tahoma" panose="020B0604030504040204" pitchFamily="34" charset="0"/>
              </a:rPr>
              <a:t>220448</a:t>
            </a:r>
            <a:endParaRPr lang="en-IN" b="1" dirty="0">
              <a:solidFill>
                <a:srgbClr val="002060"/>
              </a:solidFill>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65387-4343-4BE6-3F7D-B511F0FA59F2}"/>
              </a:ext>
            </a:extLst>
          </p:cNvPr>
          <p:cNvSpPr>
            <a:spLocks noGrp="1"/>
          </p:cNvSpPr>
          <p:nvPr>
            <p:ph type="title"/>
          </p:nvPr>
        </p:nvSpPr>
        <p:spPr/>
        <p:txBody>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A</a:t>
            </a:r>
            <a:r>
              <a:rPr lang="en-IN"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genda</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55D6F9E-25D8-8C79-739F-C4A59D52C2D8}"/>
              </a:ext>
            </a:extLst>
          </p:cNvPr>
          <p:cNvSpPr>
            <a:spLocks noGrp="1"/>
          </p:cNvSpPr>
          <p:nvPr>
            <p:ph type="body" sz="quarter" idx="13"/>
          </p:nvPr>
        </p:nvSpPr>
        <p:spPr>
          <a:xfrm>
            <a:off x="762000" y="1981200"/>
            <a:ext cx="6934200" cy="2684653"/>
          </a:xfrm>
        </p:spPr>
        <p:txBody>
          <a:bodyPr/>
          <a:lstStyle/>
          <a:p>
            <a:pPr marL="285750" indent="-285750">
              <a:spcBef>
                <a:spcPts val="1200"/>
              </a:spcBef>
              <a:spcAft>
                <a:spcPts val="600"/>
              </a:spcAft>
              <a:buFont typeface="Wingdings" panose="05000000000000000000" pitchFamily="2" charset="2"/>
              <a:buChar char="q"/>
            </a:pPr>
            <a:r>
              <a:rPr lang="en-IN" sz="2000" b="1" dirty="0">
                <a:solidFill>
                  <a:schemeClr val="tx1"/>
                </a:solidFill>
                <a:latin typeface="Times New Roman" panose="02020603050405020304" pitchFamily="18" charset="0"/>
                <a:cs typeface="Times New Roman" panose="02020603050405020304" pitchFamily="18" charset="0"/>
              </a:rPr>
              <a:t>Project Understanding (MMS)	</a:t>
            </a:r>
          </a:p>
          <a:p>
            <a:pPr marL="285750" indent="-285750">
              <a:spcBef>
                <a:spcPts val="1200"/>
              </a:spcBef>
              <a:spcAft>
                <a:spcPts val="600"/>
              </a:spcAft>
              <a:buFont typeface="Wingdings" panose="05000000000000000000" pitchFamily="2" charset="2"/>
              <a:buChar char="q"/>
            </a:pPr>
            <a:r>
              <a:rPr lang="en-US" sz="2000" b="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What I Have Learnt? </a:t>
            </a:r>
            <a:r>
              <a:rPr lang="en-IN" sz="2000" b="1" dirty="0">
                <a:solidFill>
                  <a:schemeClr val="tx1"/>
                </a:solidFill>
                <a:latin typeface="Times New Roman" panose="02020603050405020304" pitchFamily="18" charset="0"/>
                <a:cs typeface="Times New Roman" panose="02020603050405020304" pitchFamily="18" charset="0"/>
              </a:rPr>
              <a:t>		</a:t>
            </a:r>
          </a:p>
          <a:p>
            <a:pPr marL="285750" indent="-285750">
              <a:spcBef>
                <a:spcPts val="1200"/>
              </a:spcBef>
              <a:spcAft>
                <a:spcPts val="600"/>
              </a:spcAft>
              <a:buFont typeface="Wingdings" panose="05000000000000000000" pitchFamily="2" charset="2"/>
              <a:buChar char="q"/>
            </a:pPr>
            <a:r>
              <a:rPr lang="en-IN" sz="2000" b="1" dirty="0">
                <a:solidFill>
                  <a:schemeClr val="tx1"/>
                </a:solidFill>
                <a:latin typeface="Times New Roman" panose="02020603050405020304" pitchFamily="18" charset="0"/>
                <a:cs typeface="Times New Roman" panose="02020603050405020304" pitchFamily="18" charset="0"/>
              </a:rPr>
              <a:t>Key Contributions		</a:t>
            </a:r>
          </a:p>
          <a:p>
            <a:pPr marL="285750" indent="-285750">
              <a:spcBef>
                <a:spcPts val="1200"/>
              </a:spcBef>
              <a:spcAft>
                <a:spcPts val="600"/>
              </a:spcAft>
              <a:buFont typeface="Wingdings" panose="05000000000000000000" pitchFamily="2" charset="2"/>
              <a:buChar char="q"/>
            </a:pPr>
            <a:r>
              <a:rPr lang="en-US" sz="2000" b="1" dirty="0">
                <a:solidFill>
                  <a:schemeClr val="tx1"/>
                </a:solidFill>
                <a:latin typeface="Times New Roman" panose="02020603050405020304" pitchFamily="18" charset="0"/>
                <a:ea typeface="Tahoma" panose="020B0604030504040204" pitchFamily="34" charset="0"/>
                <a:cs typeface="Times New Roman" panose="02020603050405020304" pitchFamily="18" charset="0"/>
              </a:rPr>
              <a:t>Suitability of the Work</a:t>
            </a:r>
            <a:r>
              <a:rPr lang="en-IN" sz="2000" b="1" dirty="0">
                <a:solidFill>
                  <a:schemeClr val="tx1"/>
                </a:solidFill>
                <a:latin typeface="Times New Roman" panose="02020603050405020304" pitchFamily="18" charset="0"/>
                <a:cs typeface="Times New Roman" panose="02020603050405020304" pitchFamily="18" charset="0"/>
              </a:rPr>
              <a:t>	</a:t>
            </a:r>
          </a:p>
          <a:p>
            <a:pPr marL="285750" indent="-285750">
              <a:spcBef>
                <a:spcPts val="1200"/>
              </a:spcBef>
              <a:spcAft>
                <a:spcPts val="600"/>
              </a:spcAft>
              <a:buFont typeface="Wingdings" panose="05000000000000000000" pitchFamily="2" charset="2"/>
              <a:buChar char="q"/>
            </a:pPr>
            <a:r>
              <a:rPr lang="en-IN" sz="2000" b="1" dirty="0">
                <a:solidFill>
                  <a:schemeClr val="tx1"/>
                </a:solidFill>
                <a:latin typeface="Times New Roman" panose="02020603050405020304" pitchFamily="18" charset="0"/>
                <a:cs typeface="Times New Roman" panose="02020603050405020304" pitchFamily="18" charset="0"/>
              </a:rPr>
              <a:t>Technologies Used 	</a:t>
            </a:r>
          </a:p>
          <a:p>
            <a:endParaRPr lang="en-IN" sz="2000" b="1" dirty="0">
              <a:solidFill>
                <a:schemeClr val="tx1"/>
              </a:solidFill>
              <a:latin typeface="Times New Roman" panose="02020603050405020304" pitchFamily="18" charset="0"/>
              <a:cs typeface="Times New Roman" panose="02020603050405020304" pitchFamily="18" charset="0"/>
            </a:endParaRPr>
          </a:p>
          <a:p>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4C4300D-B753-FBFF-6690-1F46275713B7}"/>
              </a:ext>
            </a:extLst>
          </p:cNvPr>
          <p:cNvSpPr txBox="1"/>
          <p:nvPr/>
        </p:nvSpPr>
        <p:spPr>
          <a:xfrm>
            <a:off x="457200" y="1447800"/>
            <a:ext cx="4572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MILITARY MESSAGING SYSTEM</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5F594C-66EF-7F8F-CC6C-2B8675F0DA14}"/>
              </a:ext>
            </a:extLst>
          </p:cNvPr>
          <p:cNvSpPr txBox="1"/>
          <p:nvPr/>
        </p:nvSpPr>
        <p:spPr>
          <a:xfrm>
            <a:off x="457200" y="4671537"/>
            <a:ext cx="571500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ERP(Current Working Project)</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A932B61-8289-2BA1-7E78-A3CEA42A38DB}"/>
              </a:ext>
            </a:extLst>
          </p:cNvPr>
          <p:cNvSpPr txBox="1"/>
          <p:nvPr/>
        </p:nvSpPr>
        <p:spPr>
          <a:xfrm>
            <a:off x="762000" y="5124188"/>
            <a:ext cx="3810000" cy="1015663"/>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Swagger API Documentation</a:t>
            </a:r>
          </a:p>
          <a:p>
            <a:pPr marL="285750" indent="-28575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Exploring ERP Modules</a:t>
            </a:r>
          </a:p>
          <a:p>
            <a:pPr marL="285750" indent="-285750">
              <a:buFont typeface="Wingdings" panose="05000000000000000000" pitchFamily="2" charset="2"/>
              <a:buChar char="q"/>
            </a:pPr>
            <a:endParaRPr lang="en-IN" sz="2000" b="1" dirty="0">
              <a:latin typeface="Times New Roman" panose="02020603050405020304" pitchFamily="18" charset="0"/>
              <a:cs typeface="Times New Roman" panose="02020603050405020304" pitchFamily="18" charset="0"/>
            </a:endParaRPr>
          </a:p>
        </p:txBody>
      </p:sp>
      <p:sp>
        <p:nvSpPr>
          <p:cNvPr id="10" name="AutoShape 2" descr="User uploaded image">
            <a:extLst>
              <a:ext uri="{FF2B5EF4-FFF2-40B4-BE49-F238E27FC236}">
                <a16:creationId xmlns:a16="http://schemas.microsoft.com/office/drawing/2014/main" id="{86A90FF1-541A-5424-3F71-7D6C7B6F758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20118811"/>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b="1" dirty="0">
                <a:solidFill>
                  <a:srgbClr val="FF0000"/>
                </a:solidFill>
                <a:latin typeface="Times New Roman" panose="02020603050405020304" pitchFamily="18" charset="0"/>
                <a:ea typeface="Tahoma" pitchFamily="34" charset="0"/>
                <a:cs typeface="Times New Roman" panose="02020603050405020304" pitchFamily="18" charset="0"/>
              </a:rPr>
              <a:t>1. Project Understanding</a:t>
            </a:r>
            <a:endParaRPr lang="en-IN" b="1" dirty="0">
              <a:solidFill>
                <a:srgbClr val="FF0000"/>
              </a:solidFill>
              <a:latin typeface="Times New Roman" panose="02020603050405020304" pitchFamily="18" charset="0"/>
              <a:ea typeface="Tahoma"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DCCB15D-46FC-8864-F56C-AF8F8273423C}"/>
              </a:ext>
            </a:extLst>
          </p:cNvPr>
          <p:cNvSpPr txBox="1"/>
          <p:nvPr/>
        </p:nvSpPr>
        <p:spPr>
          <a:xfrm>
            <a:off x="533400" y="1524000"/>
            <a:ext cx="1905000"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Overview</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3E3E7F2-2807-616A-282D-FFE98A47881A}"/>
              </a:ext>
            </a:extLst>
          </p:cNvPr>
          <p:cNvSpPr txBox="1"/>
          <p:nvPr/>
        </p:nvSpPr>
        <p:spPr>
          <a:xfrm>
            <a:off x="914400" y="2667000"/>
            <a:ext cx="7467600" cy="1477328"/>
          </a:xfrm>
          <a:prstGeom prst="rect">
            <a:avLst/>
          </a:prstGeom>
          <a:noFill/>
        </p:spPr>
        <p:txBody>
          <a:bodyPr wrap="square" rtlCol="0">
            <a:spAutoFit/>
          </a:bodyPr>
          <a:lstStyle/>
          <a:p>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The Military Messaging System (MMS) is a centralized and secure enterprise-grade communication platform designed to manage official email, tasks, and calendar operations. It ensures strict control over security, workflow tracking, storage quotas, and folder management, making communication reliable and easy to manage across the organization</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96A4-0864-271B-7F5B-13B9F442F42A}"/>
              </a:ext>
            </a:extLst>
          </p:cNvPr>
          <p:cNvSpPr>
            <a:spLocks noGrp="1"/>
          </p:cNvSpPr>
          <p:nvPr>
            <p:ph type="title"/>
          </p:nvPr>
        </p:nvSpPr>
        <p:spPr/>
        <p:txBody>
          <a:bodyPr/>
          <a:lstStyle/>
          <a:p>
            <a:r>
              <a:rPr lang="en-US" b="1" dirty="0">
                <a:solidFill>
                  <a:srgbClr val="FF0000"/>
                </a:solidFill>
                <a:latin typeface="Times New Roman" panose="02020603050405020304" pitchFamily="18" charset="0"/>
                <a:ea typeface="Tahoma" pitchFamily="34" charset="0"/>
                <a:cs typeface="Times New Roman" panose="02020603050405020304" pitchFamily="18" charset="0"/>
              </a:rPr>
              <a:t>Project Understanding contd..</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2B90477-BBE0-23DB-B547-D669430980C4}"/>
              </a:ext>
            </a:extLst>
          </p:cNvPr>
          <p:cNvSpPr>
            <a:spLocks noGrp="1"/>
          </p:cNvSpPr>
          <p:nvPr>
            <p:ph type="body" sz="quarter" idx="10"/>
          </p:nvPr>
        </p:nvSpPr>
        <p:spPr>
          <a:xfrm>
            <a:off x="335026" y="1295400"/>
            <a:ext cx="7016750" cy="436562"/>
          </a:xfrm>
        </p:spPr>
        <p:txBody>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Key Objectives of the Project </a:t>
            </a:r>
            <a:endParaRPr lang="en-IN"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46405BB-E58E-E7B7-CE0A-E43795FC560C}"/>
              </a:ext>
            </a:extLst>
          </p:cNvPr>
          <p:cNvSpPr txBox="1"/>
          <p:nvPr/>
        </p:nvSpPr>
        <p:spPr>
          <a:xfrm>
            <a:off x="493776" y="1905000"/>
            <a:ext cx="7848600" cy="4524315"/>
          </a:xfrm>
          <a:prstGeom prst="rect">
            <a:avLst/>
          </a:prstGeom>
          <a:noFill/>
        </p:spPr>
        <p:txBody>
          <a:bodyPr wrap="square" rtlCol="0">
            <a:spAutoFit/>
          </a:bodyPr>
          <a:lstStyle/>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Secure email communication using Postfix , Dovecot configurations and IMAP and LDAP authentication</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Efficient mailbox management (Inbox, Drafts, Sent, Trash, Archive, Custom Folders) </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Accurate mailbox quota calculation and enforcement </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End-to-end email workflow tracking</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Drafter -&gt; Reviewer -&gt; Approver -&gt; Designated Sender -&gt; Designated Receiver -&gt; Actual Recipients</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Long-term archival of emails into a database </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Integrated Admin template module and calendar management </a:t>
            </a:r>
          </a:p>
        </p:txBody>
      </p:sp>
    </p:spTree>
    <p:extLst>
      <p:ext uri="{BB962C8B-B14F-4D97-AF65-F5344CB8AC3E}">
        <p14:creationId xmlns:p14="http://schemas.microsoft.com/office/powerpoint/2010/main" val="376370600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Project Understanding contd..</a:t>
            </a:r>
            <a:endPar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6572BC0-8270-A973-61A5-B80032851235}"/>
              </a:ext>
            </a:extLst>
          </p:cNvPr>
          <p:cNvSpPr>
            <a:spLocks noGrp="1"/>
          </p:cNvSpPr>
          <p:nvPr>
            <p:ph type="body" sz="quarter" idx="13"/>
          </p:nvPr>
        </p:nvSpPr>
        <p:spPr>
          <a:xfrm>
            <a:off x="304800" y="1070553"/>
            <a:ext cx="6934200" cy="457200"/>
          </a:xfrm>
        </p:spPr>
        <p:txBody>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System Flow (High Level) </a:t>
            </a:r>
            <a:endParaRPr lang="en-IN"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9AA6155-E739-E9A6-41C7-42F1134ACBFE}"/>
              </a:ext>
            </a:extLst>
          </p:cNvPr>
          <p:cNvSpPr txBox="1"/>
          <p:nvPr/>
        </p:nvSpPr>
        <p:spPr>
          <a:xfrm>
            <a:off x="685800" y="1607706"/>
            <a:ext cx="6172200" cy="3693319"/>
          </a:xfrm>
          <a:prstGeom prst="rect">
            <a:avLst/>
          </a:prstGeom>
          <a:noFill/>
        </p:spPr>
        <p:txBody>
          <a:bodyPr wrap="square" rtlCol="0">
            <a:spAutoFit/>
          </a:bodyPr>
          <a:lstStyle/>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User Authentication via LDAP</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Email Composition and Request Handling</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Postfix (SMTP) handles email transmission and routing, followed by Dovecot for mailbox delivery</a:t>
            </a:r>
          </a:p>
          <a:p>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Email operations via IMAP (Fetch, Save, Move, Delete)</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Quota calculations using Dovecot configuration, IMAP Quota APIs</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Archival to database for long-term storage </a:t>
            </a:r>
          </a:p>
        </p:txBody>
      </p:sp>
    </p:spTree>
    <p:extLst>
      <p:ext uri="{BB962C8B-B14F-4D97-AF65-F5344CB8AC3E}">
        <p14:creationId xmlns:p14="http://schemas.microsoft.com/office/powerpoint/2010/main" val="55796025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6858000" cy="639762"/>
          </a:xfrm>
        </p:spPr>
        <p:txBody>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2. What I Have Learnt?</a:t>
            </a:r>
            <a:endPar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70470B1-AEC6-C7A0-B35C-C92870AC0BC1}"/>
              </a:ext>
            </a:extLst>
          </p:cNvPr>
          <p:cNvSpPr txBox="1"/>
          <p:nvPr/>
        </p:nvSpPr>
        <p:spPr>
          <a:xfrm>
            <a:off x="304800" y="1143000"/>
            <a:ext cx="3200400"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Technical Learning</a:t>
            </a:r>
          </a:p>
        </p:txBody>
      </p:sp>
      <p:sp>
        <p:nvSpPr>
          <p:cNvPr id="4" name="TextBox 3">
            <a:extLst>
              <a:ext uri="{FF2B5EF4-FFF2-40B4-BE49-F238E27FC236}">
                <a16:creationId xmlns:a16="http://schemas.microsoft.com/office/drawing/2014/main" id="{520881A4-988C-07A6-B7C8-96168065954B}"/>
              </a:ext>
            </a:extLst>
          </p:cNvPr>
          <p:cNvSpPr txBox="1"/>
          <p:nvPr/>
        </p:nvSpPr>
        <p:spPr>
          <a:xfrm>
            <a:off x="609600" y="1668482"/>
            <a:ext cx="7696200" cy="3693319"/>
          </a:xfrm>
          <a:prstGeom prst="rect">
            <a:avLst/>
          </a:prstGeom>
          <a:noFill/>
        </p:spPr>
        <p:txBody>
          <a:bodyPr wrap="square" rtlCol="0">
            <a:spAutoFit/>
          </a:bodyPr>
          <a:lstStyle/>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Hands-on experience with Postfix and Dovecot mail server configuration</a:t>
            </a:r>
          </a:p>
          <a:p>
            <a:pPr marL="285750" indent="-285750">
              <a:buFont typeface="Wingdings" panose="05000000000000000000" pitchFamily="2" charset="2"/>
              <a:buChar char="q"/>
            </a:pP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Deep understanding of IMAP-based mail operations (READ_WRITE mode, flags, expunge) </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Mailbox quota handling using real-time IMAP quota APIs </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MIME message creation with full email structure (From, To, CC, BCC, subject, body, headers, and attachments).</a:t>
            </a:r>
          </a:p>
          <a:p>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Folder lifecycle management (system vs custom folders)</a:t>
            </a:r>
          </a:p>
          <a:p>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Email archival strategies (</a:t>
            </a:r>
            <a:r>
              <a:rPr lang="en-IN" dirty="0" err="1">
                <a:solidFill>
                  <a:srgbClr val="0070C0"/>
                </a:solidFill>
                <a:latin typeface="Times New Roman" panose="02020603050405020304" pitchFamily="18" charset="0"/>
                <a:ea typeface="Tahoma" panose="020B0604030504040204" pitchFamily="34" charset="0"/>
                <a:cs typeface="Times New Roman" panose="02020603050405020304" pitchFamily="18" charset="0"/>
              </a:rPr>
              <a:t>Maildir</a:t>
            </a: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 Database → Restore)</a:t>
            </a:r>
          </a:p>
        </p:txBody>
      </p:sp>
    </p:spTree>
    <p:extLst>
      <p:ext uri="{BB962C8B-B14F-4D97-AF65-F5344CB8AC3E}">
        <p14:creationId xmlns:p14="http://schemas.microsoft.com/office/powerpoint/2010/main" val="3153514327"/>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50838"/>
            <a:ext cx="6858000" cy="639762"/>
          </a:xfrm>
        </p:spPr>
        <p:txBody>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What I Have Learnt? Contd..</a:t>
            </a:r>
            <a:endParaRPr lang="en-IN"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566112F4-9972-1F63-C7DE-7E5354EFC06D}"/>
              </a:ext>
            </a:extLst>
          </p:cNvPr>
          <p:cNvSpPr txBox="1"/>
          <p:nvPr/>
        </p:nvSpPr>
        <p:spPr>
          <a:xfrm>
            <a:off x="161544" y="1219200"/>
            <a:ext cx="4943856"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Architectural &amp; Process Learning</a:t>
            </a:r>
            <a:endParaRPr lang="en-IN"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E4E7C01-EFEF-8317-C81A-1621EC789FC1}"/>
              </a:ext>
            </a:extLst>
          </p:cNvPr>
          <p:cNvSpPr txBox="1"/>
          <p:nvPr/>
        </p:nvSpPr>
        <p:spPr>
          <a:xfrm>
            <a:off x="381000" y="1676400"/>
            <a:ext cx="7696200" cy="3970318"/>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Understood mailbox architecture including Inbox, Sent, Drafts, Trash, Archive, and custom folders.</a:t>
            </a:r>
          </a:p>
          <a:p>
            <a:pPr marL="285750" indent="-285750">
              <a:buFont typeface="Wingdings" panose="05000000000000000000" pitchFamily="2" charset="2"/>
              <a:buChar char="q"/>
            </a:pPr>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Designed modular service workflows to handle core email operations such as compose, save draft , fetch, save, move to folder, delete, and archive.</a:t>
            </a:r>
          </a:p>
          <a:p>
            <a:pPr marL="285750" indent="-285750">
              <a:buFont typeface="Wingdings" panose="05000000000000000000" pitchFamily="2" charset="2"/>
              <a:buChar char="q"/>
            </a:pPr>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Managed edge cases like missing folders, and quota limits. </a:t>
            </a:r>
          </a:p>
          <a:p>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Ensured consistency between mailbox (</a:t>
            </a:r>
            <a:r>
              <a:rPr lang="en-US" dirty="0" err="1">
                <a:solidFill>
                  <a:srgbClr val="0070C0"/>
                </a:solidFill>
                <a:latin typeface="Times New Roman" panose="02020603050405020304" pitchFamily="18" charset="0"/>
                <a:ea typeface="Tahoma" panose="020B0604030504040204" pitchFamily="34" charset="0"/>
                <a:cs typeface="Times New Roman" panose="02020603050405020304" pitchFamily="18" charset="0"/>
              </a:rPr>
              <a:t>Maildir</a:t>
            </a: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and database during archival. </a:t>
            </a:r>
          </a:p>
          <a:p>
            <a:pPr marL="285750" indent="-285750">
              <a:buFont typeface="Wingdings" panose="05000000000000000000" pitchFamily="2" charset="2"/>
              <a:buChar char="q"/>
            </a:pPr>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Built clean JSON responses for smooth UI integration.</a:t>
            </a:r>
          </a:p>
          <a:p>
            <a:pPr marL="285750" indent="-285750">
              <a:buFont typeface="Wingdings" panose="05000000000000000000" pitchFamily="2" charset="2"/>
              <a:buChar char="q"/>
            </a:pPr>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Implemented end-to-end email workflow tracking using Message-ID.</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884552760"/>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6858000" cy="639762"/>
          </a:xfrm>
        </p:spPr>
        <p:txBody>
          <a:bodyPr/>
          <a:lstStyle/>
          <a:p>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3. Key Contribution</a:t>
            </a:r>
          </a:p>
        </p:txBody>
      </p:sp>
      <p:sp>
        <p:nvSpPr>
          <p:cNvPr id="5" name="TextBox 4">
            <a:extLst>
              <a:ext uri="{FF2B5EF4-FFF2-40B4-BE49-F238E27FC236}">
                <a16:creationId xmlns:a16="http://schemas.microsoft.com/office/drawing/2014/main" id="{83179226-AD40-4BCE-CC9A-2EAEBCAB2FB1}"/>
              </a:ext>
            </a:extLst>
          </p:cNvPr>
          <p:cNvSpPr txBox="1"/>
          <p:nvPr/>
        </p:nvSpPr>
        <p:spPr>
          <a:xfrm>
            <a:off x="106680" y="1143000"/>
            <a:ext cx="5105400"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1. Email Draft &amp; Folder Operations</a:t>
            </a:r>
          </a:p>
        </p:txBody>
      </p:sp>
      <p:sp>
        <p:nvSpPr>
          <p:cNvPr id="6" name="TextBox 5">
            <a:extLst>
              <a:ext uri="{FF2B5EF4-FFF2-40B4-BE49-F238E27FC236}">
                <a16:creationId xmlns:a16="http://schemas.microsoft.com/office/drawing/2014/main" id="{DD611B89-88B6-F18E-CF7F-4AE641367E8C}"/>
              </a:ext>
            </a:extLst>
          </p:cNvPr>
          <p:cNvSpPr txBox="1"/>
          <p:nvPr/>
        </p:nvSpPr>
        <p:spPr>
          <a:xfrm>
            <a:off x="381000" y="1600200"/>
            <a:ext cx="7543800" cy="1200329"/>
          </a:xfrm>
          <a:prstGeom prst="rect">
            <a:avLst/>
          </a:prstGeom>
          <a:noFill/>
        </p:spPr>
        <p:txBody>
          <a:bodyPr wrap="square" rtlCol="0">
            <a:spAutoFit/>
          </a:bodyPr>
          <a:lstStyle/>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Implemented Save Draft API with validation, quota check, and MIME message creation </a:t>
            </a: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Configured Drafts folder in Dovecot with special-use settings </a:t>
            </a: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Developed Save to Folder functionality for Sent, Drafts. </a:t>
            </a:r>
          </a:p>
        </p:txBody>
      </p:sp>
      <p:sp>
        <p:nvSpPr>
          <p:cNvPr id="7" name="TextBox 6">
            <a:extLst>
              <a:ext uri="{FF2B5EF4-FFF2-40B4-BE49-F238E27FC236}">
                <a16:creationId xmlns:a16="http://schemas.microsoft.com/office/drawing/2014/main" id="{FEE0EDAF-369F-535C-89B6-B7BE5C93F548}"/>
              </a:ext>
            </a:extLst>
          </p:cNvPr>
          <p:cNvSpPr txBox="1"/>
          <p:nvPr/>
        </p:nvSpPr>
        <p:spPr>
          <a:xfrm>
            <a:off x="106680" y="3106710"/>
            <a:ext cx="3200400"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2.</a:t>
            </a:r>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 Email Fetching</a:t>
            </a:r>
          </a:p>
        </p:txBody>
      </p:sp>
      <p:sp>
        <p:nvSpPr>
          <p:cNvPr id="8" name="TextBox 7">
            <a:extLst>
              <a:ext uri="{FF2B5EF4-FFF2-40B4-BE49-F238E27FC236}">
                <a16:creationId xmlns:a16="http://schemas.microsoft.com/office/drawing/2014/main" id="{F95E07A0-4049-FFA4-996E-35C9B78D5C3E}"/>
              </a:ext>
            </a:extLst>
          </p:cNvPr>
          <p:cNvSpPr txBox="1"/>
          <p:nvPr/>
        </p:nvSpPr>
        <p:spPr>
          <a:xfrm>
            <a:off x="381000" y="3520464"/>
            <a:ext cx="6934200"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Implemented email fetching from multiple folders (Inbox, Sent, Drafts, Trash, Archive, Custom) </a:t>
            </a:r>
          </a:p>
        </p:txBody>
      </p:sp>
      <p:sp>
        <p:nvSpPr>
          <p:cNvPr id="9" name="TextBox 8">
            <a:extLst>
              <a:ext uri="{FF2B5EF4-FFF2-40B4-BE49-F238E27FC236}">
                <a16:creationId xmlns:a16="http://schemas.microsoft.com/office/drawing/2014/main" id="{05375448-E235-828A-CBA9-2C693F671A1E}"/>
              </a:ext>
            </a:extLst>
          </p:cNvPr>
          <p:cNvSpPr txBox="1"/>
          <p:nvPr/>
        </p:nvSpPr>
        <p:spPr>
          <a:xfrm>
            <a:off x="112776" y="4302574"/>
            <a:ext cx="3925824"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3. Mail Movement &amp; Deletion </a:t>
            </a:r>
          </a:p>
        </p:txBody>
      </p:sp>
      <p:sp>
        <p:nvSpPr>
          <p:cNvPr id="10" name="TextBox 9">
            <a:extLst>
              <a:ext uri="{FF2B5EF4-FFF2-40B4-BE49-F238E27FC236}">
                <a16:creationId xmlns:a16="http://schemas.microsoft.com/office/drawing/2014/main" id="{C142E5B2-91B7-2663-D522-34B0D8854F47}"/>
              </a:ext>
            </a:extLst>
          </p:cNvPr>
          <p:cNvSpPr txBox="1"/>
          <p:nvPr/>
        </p:nvSpPr>
        <p:spPr>
          <a:xfrm>
            <a:off x="381000" y="4791670"/>
            <a:ext cx="7086600"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Implemented IMAP-based mail movement for Trash, Archive, and custom folders without database dependency, ensuring data safety through backup copies and proper validation.</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314479348"/>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Contribution Contd..</a:t>
            </a:r>
          </a:p>
        </p:txBody>
      </p:sp>
      <p:sp>
        <p:nvSpPr>
          <p:cNvPr id="3" name="Title 1">
            <a:extLst>
              <a:ext uri="{FF2B5EF4-FFF2-40B4-BE49-F238E27FC236}">
                <a16:creationId xmlns:a16="http://schemas.microsoft.com/office/drawing/2014/main" id="{B0616F4E-404F-BE16-2BC5-592808F5C18F}"/>
              </a:ext>
            </a:extLst>
          </p:cNvPr>
          <p:cNvSpPr txBox="1">
            <a:spLocks/>
          </p:cNvSpPr>
          <p:nvPr/>
        </p:nvSpPr>
        <p:spPr bwMode="auto">
          <a:xfrm>
            <a:off x="82320" y="1078279"/>
            <a:ext cx="8596668" cy="49682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b="0" kern="1200">
                <a:solidFill>
                  <a:srgbClr val="377BCD"/>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3200">
                <a:solidFill>
                  <a:srgbClr val="377BCD"/>
                </a:solidFill>
                <a:latin typeface="Arial" charset="0"/>
                <a:cs typeface="Arial" charset="0"/>
              </a:defRPr>
            </a:lvl2pPr>
            <a:lvl3pPr algn="l" rtl="0" eaLnBrk="0" fontAlgn="base" hangingPunct="0">
              <a:spcBef>
                <a:spcPct val="0"/>
              </a:spcBef>
              <a:spcAft>
                <a:spcPct val="0"/>
              </a:spcAft>
              <a:defRPr sz="3200">
                <a:solidFill>
                  <a:srgbClr val="377BCD"/>
                </a:solidFill>
                <a:latin typeface="Arial" charset="0"/>
                <a:cs typeface="Arial" charset="0"/>
              </a:defRPr>
            </a:lvl3pPr>
            <a:lvl4pPr algn="l" rtl="0" eaLnBrk="0" fontAlgn="base" hangingPunct="0">
              <a:spcBef>
                <a:spcPct val="0"/>
              </a:spcBef>
              <a:spcAft>
                <a:spcPct val="0"/>
              </a:spcAft>
              <a:defRPr sz="3200">
                <a:solidFill>
                  <a:srgbClr val="377BCD"/>
                </a:solidFill>
                <a:latin typeface="Arial" charset="0"/>
                <a:cs typeface="Arial" charset="0"/>
              </a:defRPr>
            </a:lvl4pPr>
            <a:lvl5pPr algn="l" rtl="0" eaLnBrk="0" fontAlgn="base" hangingPunct="0">
              <a:spcBef>
                <a:spcPct val="0"/>
              </a:spcBef>
              <a:spcAft>
                <a:spcPct val="0"/>
              </a:spcAft>
              <a:defRPr sz="3200">
                <a:solidFill>
                  <a:srgbClr val="377BCD"/>
                </a:solidFill>
                <a:latin typeface="Arial" charset="0"/>
                <a:cs typeface="Arial" charset="0"/>
              </a:defRPr>
            </a:lvl5pPr>
            <a:lvl6pPr marL="457200" algn="l" rtl="0" fontAlgn="base">
              <a:spcBef>
                <a:spcPct val="0"/>
              </a:spcBef>
              <a:spcAft>
                <a:spcPct val="0"/>
              </a:spcAft>
              <a:defRPr sz="3200">
                <a:solidFill>
                  <a:srgbClr val="377BCD"/>
                </a:solidFill>
                <a:latin typeface="Arial" charset="0"/>
                <a:cs typeface="Arial" charset="0"/>
              </a:defRPr>
            </a:lvl6pPr>
            <a:lvl7pPr marL="914400" algn="l" rtl="0" fontAlgn="base">
              <a:spcBef>
                <a:spcPct val="0"/>
              </a:spcBef>
              <a:spcAft>
                <a:spcPct val="0"/>
              </a:spcAft>
              <a:defRPr sz="3200">
                <a:solidFill>
                  <a:srgbClr val="377BCD"/>
                </a:solidFill>
                <a:latin typeface="Arial" charset="0"/>
                <a:cs typeface="Arial" charset="0"/>
              </a:defRPr>
            </a:lvl7pPr>
            <a:lvl8pPr marL="1371600" algn="l" rtl="0" fontAlgn="base">
              <a:spcBef>
                <a:spcPct val="0"/>
              </a:spcBef>
              <a:spcAft>
                <a:spcPct val="0"/>
              </a:spcAft>
              <a:defRPr sz="3200">
                <a:solidFill>
                  <a:srgbClr val="377BCD"/>
                </a:solidFill>
                <a:latin typeface="Arial" charset="0"/>
                <a:cs typeface="Arial" charset="0"/>
              </a:defRPr>
            </a:lvl8pPr>
            <a:lvl9pPr marL="1828800" algn="l" rtl="0" fontAlgn="base">
              <a:spcBef>
                <a:spcPct val="0"/>
              </a:spcBef>
              <a:spcAft>
                <a:spcPct val="0"/>
              </a:spcAft>
              <a:defRPr sz="3200">
                <a:solidFill>
                  <a:srgbClr val="377BCD"/>
                </a:solidFill>
                <a:latin typeface="Arial" charset="0"/>
                <a:cs typeface="Arial" charset="0"/>
              </a:defRPr>
            </a:lvl9p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4. Quota Management</a:t>
            </a:r>
          </a:p>
        </p:txBody>
      </p:sp>
      <p:sp>
        <p:nvSpPr>
          <p:cNvPr id="4" name="TextBox 3">
            <a:extLst>
              <a:ext uri="{FF2B5EF4-FFF2-40B4-BE49-F238E27FC236}">
                <a16:creationId xmlns:a16="http://schemas.microsoft.com/office/drawing/2014/main" id="{3B25D156-F3E2-9854-1C84-EEF9F45172AF}"/>
              </a:ext>
            </a:extLst>
          </p:cNvPr>
          <p:cNvSpPr txBox="1"/>
          <p:nvPr/>
        </p:nvSpPr>
        <p:spPr>
          <a:xfrm>
            <a:off x="420624" y="1543163"/>
            <a:ext cx="7882128" cy="646331"/>
          </a:xfrm>
          <a:prstGeom prst="rect">
            <a:avLst/>
          </a:prstGeom>
          <a:noFill/>
        </p:spPr>
        <p:txBody>
          <a:bodyPr wrap="square" rtlCol="0">
            <a:spAutoFit/>
          </a:bodyPr>
          <a:lstStyle/>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Implemented </a:t>
            </a:r>
            <a:r>
              <a:rPr lang="en-IN" dirty="0" err="1">
                <a:solidFill>
                  <a:srgbClr val="0070C0"/>
                </a:solidFill>
                <a:latin typeface="Times New Roman" panose="02020603050405020304" pitchFamily="18" charset="0"/>
                <a:ea typeface="Tahoma" panose="020B0604030504040204" pitchFamily="34" charset="0"/>
                <a:cs typeface="Times New Roman" panose="02020603050405020304" pitchFamily="18" charset="0"/>
              </a:rPr>
              <a:t>getMaildirSize</a:t>
            </a: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for real-time mailbox storage calculation </a:t>
            </a: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Integrated Dovecot quota configuration and formatting for UI-friendly output </a:t>
            </a:r>
          </a:p>
        </p:txBody>
      </p:sp>
      <p:sp>
        <p:nvSpPr>
          <p:cNvPr id="5" name="TextBox 4">
            <a:extLst>
              <a:ext uri="{FF2B5EF4-FFF2-40B4-BE49-F238E27FC236}">
                <a16:creationId xmlns:a16="http://schemas.microsoft.com/office/drawing/2014/main" id="{22F3499D-EFE3-BD3D-0A6D-2B07666B1990}"/>
              </a:ext>
            </a:extLst>
          </p:cNvPr>
          <p:cNvSpPr txBox="1"/>
          <p:nvPr/>
        </p:nvSpPr>
        <p:spPr>
          <a:xfrm>
            <a:off x="97560" y="2298378"/>
            <a:ext cx="4425018"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5. </a:t>
            </a:r>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Custom Folder Management </a:t>
            </a:r>
          </a:p>
        </p:txBody>
      </p:sp>
      <p:sp>
        <p:nvSpPr>
          <p:cNvPr id="6" name="TextBox 5">
            <a:extLst>
              <a:ext uri="{FF2B5EF4-FFF2-40B4-BE49-F238E27FC236}">
                <a16:creationId xmlns:a16="http://schemas.microsoft.com/office/drawing/2014/main" id="{1A2D79C2-22A7-A941-891F-000810239F90}"/>
              </a:ext>
            </a:extLst>
          </p:cNvPr>
          <p:cNvSpPr txBox="1"/>
          <p:nvPr/>
        </p:nvSpPr>
        <p:spPr>
          <a:xfrm>
            <a:off x="423672" y="2743797"/>
            <a:ext cx="7882128"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Created APIs for custom folder creation, listing, and deletion </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Ensured system folders are protected from accidental operations</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1074C10-0347-A5ED-514E-A73DAC4641B6}"/>
              </a:ext>
            </a:extLst>
          </p:cNvPr>
          <p:cNvSpPr txBox="1"/>
          <p:nvPr/>
        </p:nvSpPr>
        <p:spPr>
          <a:xfrm>
            <a:off x="134112" y="3429000"/>
            <a:ext cx="3995928"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6. </a:t>
            </a:r>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Email Archival</a:t>
            </a:r>
          </a:p>
        </p:txBody>
      </p:sp>
      <p:sp>
        <p:nvSpPr>
          <p:cNvPr id="8" name="TextBox 7">
            <a:extLst>
              <a:ext uri="{FF2B5EF4-FFF2-40B4-BE49-F238E27FC236}">
                <a16:creationId xmlns:a16="http://schemas.microsoft.com/office/drawing/2014/main" id="{AB901C45-861C-7187-60D7-E16BB74282EB}"/>
              </a:ext>
            </a:extLst>
          </p:cNvPr>
          <p:cNvSpPr txBox="1"/>
          <p:nvPr/>
        </p:nvSpPr>
        <p:spPr>
          <a:xfrm>
            <a:off x="393192" y="3790238"/>
            <a:ext cx="7882128"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Developed a </a:t>
            </a:r>
            <a:r>
              <a:rPr lang="en-US" dirty="0" err="1">
                <a:solidFill>
                  <a:srgbClr val="0070C0"/>
                </a:solidFill>
                <a:latin typeface="Times New Roman" panose="02020603050405020304" pitchFamily="18" charset="0"/>
                <a:ea typeface="Tahoma" panose="020B0604030504040204" pitchFamily="34" charset="0"/>
                <a:cs typeface="Times New Roman" panose="02020603050405020304" pitchFamily="18" charset="0"/>
              </a:rPr>
              <a:t>Maildir</a:t>
            </a: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-to-Database email archival service, mapping emails to structured database entities using JSON fields.</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Implemented email restore functionality.</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745074A2-0992-F013-C2A3-9A355E757965}"/>
              </a:ext>
            </a:extLst>
          </p:cNvPr>
          <p:cNvSpPr txBox="1"/>
          <p:nvPr/>
        </p:nvSpPr>
        <p:spPr>
          <a:xfrm>
            <a:off x="387096" y="5179556"/>
            <a:ext cx="7406640" cy="1200329"/>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Developed admin module for military template management (create, update, fetch, delete)</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Implemented logic for all-day and timed tasks </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Supported today’s tasks and future task retrieval </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643A9BC-7282-99FF-CF9F-40C6D2955EAC}"/>
              </a:ext>
            </a:extLst>
          </p:cNvPr>
          <p:cNvSpPr txBox="1"/>
          <p:nvPr/>
        </p:nvSpPr>
        <p:spPr>
          <a:xfrm>
            <a:off x="134112" y="4674696"/>
            <a:ext cx="6324600"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7. Admin module &amp; Calendar management Service</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738922658"/>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0BEF1-8C88-7CA6-5DC9-978F3D1AA7BF}"/>
              </a:ext>
            </a:extLst>
          </p:cNvPr>
          <p:cNvSpPr>
            <a:spLocks noGrp="1"/>
          </p:cNvSpPr>
          <p:nvPr>
            <p:ph type="title"/>
          </p:nvPr>
        </p:nvSpPr>
        <p:spPr>
          <a:xfrm>
            <a:off x="457200" y="350838"/>
            <a:ext cx="7924800" cy="639762"/>
          </a:xfrm>
        </p:spPr>
        <p:txBody>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4. Suitability of the Work</a:t>
            </a:r>
            <a:endParaRPr lang="en-IN"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229B2AD-9A9D-31F7-F79E-9A38482AE2B1}"/>
              </a:ext>
            </a:extLst>
          </p:cNvPr>
          <p:cNvSpPr>
            <a:spLocks noGrp="1"/>
          </p:cNvSpPr>
          <p:nvPr>
            <p:ph type="body" sz="quarter" idx="10"/>
          </p:nvPr>
        </p:nvSpPr>
        <p:spPr>
          <a:xfrm>
            <a:off x="457200" y="1143000"/>
            <a:ext cx="7016750" cy="436562"/>
          </a:xfrm>
        </p:spPr>
        <p:txBody>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Skill Alignment</a:t>
            </a:r>
          </a:p>
          <a:p>
            <a:endParaRPr lang="en-IN" sz="2000"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9EF93CC-A197-0BED-194C-FC3901B72C36}"/>
              </a:ext>
            </a:extLst>
          </p:cNvPr>
          <p:cNvSpPr txBox="1"/>
          <p:nvPr/>
        </p:nvSpPr>
        <p:spPr>
          <a:xfrm>
            <a:off x="685800" y="1756346"/>
            <a:ext cx="7315200" cy="3970318"/>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 have experience with Java and Spring Boot for service-layer development.</a:t>
            </a:r>
          </a:p>
          <a:p>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 have handled database tasks like entity mapping, JSON storage.</a:t>
            </a:r>
          </a:p>
          <a:p>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 have worked on mail sending functionality in a previous project.</a:t>
            </a:r>
          </a:p>
          <a:p>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 have the ability to solve complex issues, as I faced in this project, like mailbox quota calculations and system configuration setup.</a:t>
            </a:r>
          </a:p>
          <a:p>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 have the ability to explore new technologies and apply them in projects, as I did while ensuring system integration between LDAP, IMAP, Dovecot, and databases.</a:t>
            </a:r>
          </a:p>
          <a:p>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8395662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F00F-C292-04CC-017A-30FAF3BCA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6077C-F2D7-AF57-0C7F-D6D9AE529421}"/>
              </a:ext>
            </a:extLst>
          </p:cNvPr>
          <p:cNvSpPr>
            <a:spLocks noGrp="1"/>
          </p:cNvSpPr>
          <p:nvPr>
            <p:ph type="title"/>
          </p:nvPr>
        </p:nvSpPr>
        <p:spPr>
          <a:xfrm>
            <a:off x="457200" y="350838"/>
            <a:ext cx="7924800" cy="639762"/>
          </a:xfrm>
        </p:spPr>
        <p:txBody>
          <a:bodyPr/>
          <a:lstStyle/>
          <a:p>
            <a:r>
              <a:rPr lang="en-IN" b="1" dirty="0">
                <a:solidFill>
                  <a:srgbClr val="FF0000"/>
                </a:solidFill>
                <a:latin typeface="Times New Roman" panose="02020603050405020304" pitchFamily="18" charset="0"/>
                <a:cs typeface="Times New Roman" panose="02020603050405020304" pitchFamily="18" charset="0"/>
              </a:rPr>
              <a:t>Enterprise Resource Planning (ERP)</a:t>
            </a:r>
            <a:endPar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BD32537-5699-4D61-F59C-850DE58B51F3}"/>
              </a:ext>
            </a:extLst>
          </p:cNvPr>
          <p:cNvSpPr>
            <a:spLocks noGrp="1"/>
          </p:cNvSpPr>
          <p:nvPr>
            <p:ph type="body" sz="quarter" idx="10"/>
          </p:nvPr>
        </p:nvSpPr>
        <p:spPr>
          <a:xfrm>
            <a:off x="457200" y="1345188"/>
            <a:ext cx="7016750" cy="436562"/>
          </a:xfrm>
        </p:spPr>
        <p:txBody>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Overview</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C2D0CEF-DBCA-4BB3-4622-7D597B9E41B3}"/>
              </a:ext>
            </a:extLst>
          </p:cNvPr>
          <p:cNvSpPr txBox="1"/>
          <p:nvPr/>
        </p:nvSpPr>
        <p:spPr>
          <a:xfrm>
            <a:off x="685800" y="2136338"/>
            <a:ext cx="7315200" cy="2031325"/>
          </a:xfrm>
          <a:prstGeom prst="rect">
            <a:avLst/>
          </a:prstGeom>
          <a:noFill/>
        </p:spPr>
        <p:txBody>
          <a:bodyPr wrap="square" rtlCol="0">
            <a:spAutoFit/>
          </a:bodyPr>
          <a:lstStyle/>
          <a:p>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Enterprise Resource Planning (ERP) is a centralized software suite that integrates core business processes like finance, human resources, and manufacturing into a single unified system. This automation streamlines workflows, enhances operational efficiency, and improves collaboration across the entire organization. Ultimately, an ERP system empowers businesses to scale effectively by providing better visibility and control over their resources and performance.</a:t>
            </a:r>
          </a:p>
        </p:txBody>
      </p:sp>
    </p:spTree>
    <p:extLst>
      <p:ext uri="{BB962C8B-B14F-4D97-AF65-F5344CB8AC3E}">
        <p14:creationId xmlns:p14="http://schemas.microsoft.com/office/powerpoint/2010/main" val="2066856180"/>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8A31-B8C2-6A40-F8DF-38A90BE7B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CC01D-8BFB-707E-D6D3-272864FE9E79}"/>
              </a:ext>
            </a:extLst>
          </p:cNvPr>
          <p:cNvSpPr>
            <a:spLocks noGrp="1"/>
          </p:cNvSpPr>
          <p:nvPr>
            <p:ph type="title"/>
          </p:nvPr>
        </p:nvSpPr>
        <p:spPr>
          <a:xfrm>
            <a:off x="457200" y="350838"/>
            <a:ext cx="7924800" cy="639762"/>
          </a:xfrm>
        </p:spPr>
        <p:txBody>
          <a:bodyPr/>
          <a:lstStyle/>
          <a:p>
            <a:r>
              <a:rPr lang="en-US"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API Documentation</a:t>
            </a:r>
            <a:endPar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9954DAA-3489-67AE-6576-B55E3DA75A17}"/>
              </a:ext>
            </a:extLst>
          </p:cNvPr>
          <p:cNvSpPr>
            <a:spLocks noGrp="1"/>
          </p:cNvSpPr>
          <p:nvPr>
            <p:ph type="body" sz="quarter" idx="10"/>
          </p:nvPr>
        </p:nvSpPr>
        <p:spPr>
          <a:xfrm>
            <a:off x="457200" y="1345188"/>
            <a:ext cx="7016750" cy="436562"/>
          </a:xfrm>
        </p:spPr>
        <p:txBody>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Work Done</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23A7BC20-CB90-4779-6DF9-A453C0CD2AA5}"/>
              </a:ext>
            </a:extLst>
          </p:cNvPr>
          <p:cNvSpPr txBox="1"/>
          <p:nvPr/>
        </p:nvSpPr>
        <p:spPr>
          <a:xfrm>
            <a:off x="685800" y="2136338"/>
            <a:ext cx="7315200" cy="3693319"/>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cs typeface="Times New Roman" panose="02020603050405020304" pitchFamily="18" charset="0"/>
              </a:rPr>
              <a:t>In this project, I </a:t>
            </a:r>
            <a:r>
              <a:rPr lang="en-US" b="1" dirty="0">
                <a:solidFill>
                  <a:srgbClr val="0070C0"/>
                </a:solidFill>
                <a:latin typeface="Times New Roman" panose="02020603050405020304" pitchFamily="18" charset="0"/>
                <a:cs typeface="Times New Roman" panose="02020603050405020304" pitchFamily="18" charset="0"/>
              </a:rPr>
              <a:t>centralized and containerized</a:t>
            </a:r>
            <a:r>
              <a:rPr lang="en-US" dirty="0">
                <a:solidFill>
                  <a:srgbClr val="0070C0"/>
                </a:solidFill>
                <a:latin typeface="Times New Roman" panose="02020603050405020304" pitchFamily="18" charset="0"/>
                <a:cs typeface="Times New Roman" panose="02020603050405020304" pitchFamily="18" charset="0"/>
              </a:rPr>
              <a:t> the API documentation for a multi-service ERP system to streamline development and testing. </a:t>
            </a:r>
          </a:p>
          <a:p>
            <a:pPr marL="285750" indent="-285750">
              <a:buFont typeface="Wingdings" panose="05000000000000000000" pitchFamily="2" charset="2"/>
              <a:buChar char="q"/>
            </a:pPr>
            <a:endParaRPr lang="en-US" dirty="0">
              <a:solidFill>
                <a:srgbClr val="0070C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cs typeface="Times New Roman" panose="02020603050405020304" pitchFamily="18" charset="0"/>
              </a:rPr>
              <a:t>I </a:t>
            </a:r>
            <a:r>
              <a:rPr lang="en-US" b="1" dirty="0">
                <a:solidFill>
                  <a:srgbClr val="0070C0"/>
                </a:solidFill>
                <a:latin typeface="Times New Roman" panose="02020603050405020304" pitchFamily="18" charset="0"/>
                <a:cs typeface="Times New Roman" panose="02020603050405020304" pitchFamily="18" charset="0"/>
              </a:rPr>
              <a:t>authored Open API (YAML) specifications</a:t>
            </a:r>
            <a:r>
              <a:rPr lang="en-US" dirty="0">
                <a:solidFill>
                  <a:srgbClr val="0070C0"/>
                </a:solidFill>
                <a:latin typeface="Times New Roman" panose="02020603050405020304" pitchFamily="18" charset="0"/>
                <a:cs typeface="Times New Roman" panose="02020603050405020304" pitchFamily="18" charset="0"/>
              </a:rPr>
              <a:t> for various backend microservices and deployed them using </a:t>
            </a:r>
            <a:r>
              <a:rPr lang="en-US" b="1" dirty="0">
                <a:solidFill>
                  <a:srgbClr val="0070C0"/>
                </a:solidFill>
                <a:latin typeface="Times New Roman" panose="02020603050405020304" pitchFamily="18" charset="0"/>
                <a:cs typeface="Times New Roman" panose="02020603050405020304" pitchFamily="18" charset="0"/>
              </a:rPr>
              <a:t>Swagger UI via Docker Compose</a:t>
            </a:r>
            <a:r>
              <a:rPr lang="en-US" dirty="0">
                <a:solidFill>
                  <a:srgbClr val="0070C0"/>
                </a:solidFill>
                <a:latin typeface="Times New Roman" panose="02020603050405020304" pitchFamily="18" charset="0"/>
                <a:cs typeface="Times New Roman" panose="02020603050405020304" pitchFamily="18" charset="0"/>
              </a:rPr>
              <a:t>, creating a unified, interactive interface. </a:t>
            </a:r>
          </a:p>
          <a:p>
            <a:pPr marL="285750" indent="-285750">
              <a:buFont typeface="Wingdings" panose="05000000000000000000" pitchFamily="2" charset="2"/>
              <a:buChar char="q"/>
            </a:pPr>
            <a:endParaRPr lang="en-US" dirty="0">
              <a:solidFill>
                <a:srgbClr val="0070C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solidFill>
                  <a:srgbClr val="0070C0"/>
                </a:solidFill>
                <a:latin typeface="Times New Roman" panose="02020603050405020304" pitchFamily="18" charset="0"/>
                <a:cs typeface="Times New Roman" panose="02020603050405020304" pitchFamily="18" charset="0"/>
              </a:rPr>
              <a:t>By implementing </a:t>
            </a:r>
            <a:r>
              <a:rPr lang="en-US" b="1" dirty="0">
                <a:solidFill>
                  <a:srgbClr val="0070C0"/>
                </a:solidFill>
                <a:latin typeface="Times New Roman" panose="02020603050405020304" pitchFamily="18" charset="0"/>
                <a:cs typeface="Times New Roman" panose="02020603050405020304" pitchFamily="18" charset="0"/>
              </a:rPr>
              <a:t>Docker volume mounting</a:t>
            </a:r>
            <a:r>
              <a:rPr lang="en-US" dirty="0">
                <a:solidFill>
                  <a:srgbClr val="0070C0"/>
                </a:solidFill>
                <a:latin typeface="Times New Roman" panose="02020603050405020304" pitchFamily="18" charset="0"/>
                <a:cs typeface="Times New Roman" panose="02020603050405020304" pitchFamily="18" charset="0"/>
              </a:rPr>
              <a:t>, I ensured the documentation remained offline-ready and easily maintainable.</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cs typeface="Times New Roman" panose="02020603050405020304" pitchFamily="18" charset="0"/>
              </a:rPr>
              <a:t>My work enabled the team to switch between different service definitions seamlessly, ensuring consistent API contracts and faster integration across the entire ERP ecosystem.</a:t>
            </a:r>
            <a:endPar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1708571"/>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E08E7-FDA3-6E33-D0DA-3AA942CE7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909F5-DAF1-B6A5-5559-A104EEF25F1D}"/>
              </a:ext>
            </a:extLst>
          </p:cNvPr>
          <p:cNvSpPr>
            <a:spLocks noGrp="1"/>
          </p:cNvSpPr>
          <p:nvPr>
            <p:ph type="title"/>
          </p:nvPr>
        </p:nvSpPr>
        <p:spPr>
          <a:xfrm>
            <a:off x="457200" y="350838"/>
            <a:ext cx="7924800" cy="639762"/>
          </a:xfrm>
        </p:spPr>
        <p:txBody>
          <a:bodyPr/>
          <a:lstStyle/>
          <a:p>
            <a:r>
              <a:rPr lang="en-IN" b="1" dirty="0">
                <a:solidFill>
                  <a:srgbClr val="FF0000"/>
                </a:solidFill>
                <a:latin typeface="Times New Roman" panose="02020603050405020304" pitchFamily="18" charset="0"/>
                <a:cs typeface="Times New Roman" panose="02020603050405020304" pitchFamily="18" charset="0"/>
              </a:rPr>
              <a:t>Core ERP Modules</a:t>
            </a:r>
            <a:endPar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E6268ED-FA8F-815C-C5EE-35F68A8FC9BC}"/>
              </a:ext>
            </a:extLst>
          </p:cNvPr>
          <p:cNvSpPr>
            <a:spLocks noGrp="1"/>
          </p:cNvSpPr>
          <p:nvPr>
            <p:ph type="body" sz="quarter" idx="10"/>
          </p:nvPr>
        </p:nvSpPr>
        <p:spPr>
          <a:xfrm>
            <a:off x="457200" y="1345188"/>
            <a:ext cx="7016750" cy="436562"/>
          </a:xfrm>
        </p:spPr>
        <p:txBody>
          <a:bodyPr/>
          <a:lstStyle/>
          <a:p>
            <a:r>
              <a:rPr lang="en-IN" sz="2000" b="1" dirty="0">
                <a:solidFill>
                  <a:srgbClr val="002060"/>
                </a:solidFill>
                <a:latin typeface="Times New Roman" panose="02020603050405020304" pitchFamily="18" charset="0"/>
                <a:cs typeface="Times New Roman" panose="02020603050405020304" pitchFamily="18" charset="0"/>
              </a:rPr>
              <a:t>A Functional Overview</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8665EAB4-649C-648C-0751-8C32983E2158}"/>
              </a:ext>
            </a:extLst>
          </p:cNvPr>
          <p:cNvSpPr txBox="1"/>
          <p:nvPr/>
        </p:nvSpPr>
        <p:spPr>
          <a:xfrm>
            <a:off x="685800" y="1958463"/>
            <a:ext cx="7315200" cy="4524315"/>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cs typeface="Times New Roman" panose="02020603050405020304" pitchFamily="18" charset="0"/>
              </a:rPr>
              <a:t>I explored the core functional building blocks of an ERP system. Understanding these modules was essential to see how a single database integrates diverse business operations to improve efficiency and data accuracy.</a:t>
            </a:r>
          </a:p>
          <a:p>
            <a:pPr marL="285750" indent="-285750">
              <a:buFont typeface="Wingdings" panose="05000000000000000000" pitchFamily="2" charset="2"/>
              <a:buChar char="q"/>
            </a:pPr>
            <a:r>
              <a:rPr lang="en-US" b="1" dirty="0">
                <a:solidFill>
                  <a:srgbClr val="0070C0"/>
                </a:solidFill>
                <a:latin typeface="Times New Roman" panose="02020603050405020304" pitchFamily="18" charset="0"/>
                <a:cs typeface="Times New Roman" panose="02020603050405020304" pitchFamily="18" charset="0"/>
              </a:rPr>
              <a:t>Finance:</a:t>
            </a:r>
            <a:r>
              <a:rPr lang="en-US" dirty="0">
                <a:solidFill>
                  <a:srgbClr val="0070C0"/>
                </a:solidFill>
                <a:latin typeface="Times New Roman" panose="02020603050405020304" pitchFamily="18" charset="0"/>
                <a:cs typeface="Times New Roman" panose="02020603050405020304" pitchFamily="18" charset="0"/>
              </a:rPr>
              <a:t> The "engine" of the system it automates bookkeeping, manages the general ledger, and tracks accounts payable/receivable to ensure financial health.</a:t>
            </a:r>
          </a:p>
          <a:p>
            <a:pPr marL="285750" indent="-285750">
              <a:buFont typeface="Wingdings" panose="05000000000000000000" pitchFamily="2" charset="2"/>
              <a:buChar char="q"/>
            </a:pPr>
            <a:r>
              <a:rPr lang="en-US" b="1" dirty="0">
                <a:solidFill>
                  <a:srgbClr val="0070C0"/>
                </a:solidFill>
                <a:latin typeface="Times New Roman" panose="02020603050405020304" pitchFamily="18" charset="0"/>
                <a:cs typeface="Times New Roman" panose="02020603050405020304" pitchFamily="18" charset="0"/>
              </a:rPr>
              <a:t>Inventory:</a:t>
            </a:r>
            <a:r>
              <a:rPr lang="en-US" dirty="0">
                <a:solidFill>
                  <a:srgbClr val="0070C0"/>
                </a:solidFill>
                <a:latin typeface="Times New Roman" panose="02020603050405020304" pitchFamily="18" charset="0"/>
                <a:cs typeface="Times New Roman" panose="02020603050405020304" pitchFamily="18" charset="0"/>
              </a:rPr>
              <a:t> Provides real-time visibility into stock levels across warehouses, using automated alerts to prevent shortages or overstocking.</a:t>
            </a:r>
          </a:p>
          <a:p>
            <a:pPr marL="285750" indent="-285750">
              <a:buFont typeface="Wingdings" panose="05000000000000000000" pitchFamily="2" charset="2"/>
              <a:buChar char="q"/>
            </a:pPr>
            <a:r>
              <a:rPr lang="en-US" b="1" dirty="0">
                <a:solidFill>
                  <a:srgbClr val="0070C0"/>
                </a:solidFill>
                <a:latin typeface="Times New Roman" panose="02020603050405020304" pitchFamily="18" charset="0"/>
                <a:cs typeface="Times New Roman" panose="02020603050405020304" pitchFamily="18" charset="0"/>
              </a:rPr>
              <a:t>Sales &amp; Purchase:</a:t>
            </a:r>
            <a:r>
              <a:rPr lang="en-US" dirty="0">
                <a:solidFill>
                  <a:srgbClr val="0070C0"/>
                </a:solidFill>
                <a:latin typeface="Times New Roman" panose="02020603050405020304" pitchFamily="18" charset="0"/>
                <a:cs typeface="Times New Roman" panose="02020603050405020304" pitchFamily="18" charset="0"/>
              </a:rPr>
              <a:t> Streamlines the entire "order-to-cash" and "procure-to-pay" cycles, from customer quotations to vendor payments.</a:t>
            </a:r>
          </a:p>
          <a:p>
            <a:pPr marL="285750" indent="-285750">
              <a:buFont typeface="Wingdings" panose="05000000000000000000" pitchFamily="2" charset="2"/>
              <a:buChar char="q"/>
            </a:pPr>
            <a:r>
              <a:rPr lang="en-US" b="1" dirty="0">
                <a:solidFill>
                  <a:srgbClr val="0070C0"/>
                </a:solidFill>
                <a:latin typeface="Times New Roman" panose="02020603050405020304" pitchFamily="18" charset="0"/>
                <a:cs typeface="Times New Roman" panose="02020603050405020304" pitchFamily="18" charset="0"/>
              </a:rPr>
              <a:t>HR (Human Resources):</a:t>
            </a:r>
            <a:r>
              <a:rPr lang="en-US" dirty="0">
                <a:solidFill>
                  <a:srgbClr val="0070C0"/>
                </a:solidFill>
                <a:latin typeface="Times New Roman" panose="02020603050405020304" pitchFamily="18" charset="0"/>
                <a:cs typeface="Times New Roman" panose="02020603050405020304" pitchFamily="18" charset="0"/>
              </a:rPr>
              <a:t> Centralizes employee lifecycles, including digital records, payroll processing, and attendance tracking.</a:t>
            </a:r>
          </a:p>
          <a:p>
            <a:pPr marL="285750" indent="-285750">
              <a:buFont typeface="Wingdings" panose="05000000000000000000" pitchFamily="2" charset="2"/>
              <a:buChar char="q"/>
            </a:pPr>
            <a:r>
              <a:rPr lang="en-US" b="1" dirty="0">
                <a:solidFill>
                  <a:srgbClr val="0070C0"/>
                </a:solidFill>
                <a:latin typeface="Times New Roman" panose="02020603050405020304" pitchFamily="18" charset="0"/>
                <a:cs typeface="Times New Roman" panose="02020603050405020304" pitchFamily="18" charset="0"/>
              </a:rPr>
              <a:t>CRM (Customer Relationship Management):</a:t>
            </a:r>
            <a:r>
              <a:rPr lang="en-US" dirty="0">
                <a:solidFill>
                  <a:srgbClr val="0070C0"/>
                </a:solidFill>
                <a:latin typeface="Times New Roman" panose="02020603050405020304" pitchFamily="18" charset="0"/>
                <a:cs typeface="Times New Roman" panose="02020603050405020304" pitchFamily="18" charset="0"/>
              </a:rPr>
              <a:t> Enhances growth by tracking lead pipelines, customer communication history, and support requests.</a:t>
            </a:r>
          </a:p>
        </p:txBody>
      </p:sp>
    </p:spTree>
    <p:extLst>
      <p:ext uri="{BB962C8B-B14F-4D97-AF65-F5344CB8AC3E}">
        <p14:creationId xmlns:p14="http://schemas.microsoft.com/office/powerpoint/2010/main" val="1286186968"/>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5DF31-63A8-3600-CFA1-4950003950BA}"/>
              </a:ext>
            </a:extLst>
          </p:cNvPr>
          <p:cNvSpPr>
            <a:spLocks noGrp="1"/>
          </p:cNvSpPr>
          <p:nvPr>
            <p:ph type="title"/>
          </p:nvPr>
        </p:nvSpPr>
        <p:spPr/>
        <p:txBody>
          <a:bodyPr/>
          <a:lstStyle/>
          <a:p>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5. Technologies Used</a:t>
            </a:r>
            <a:endParaRPr lang="en-IN"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00C9B21C-8D47-55C6-C30B-963742F7A566}"/>
              </a:ext>
            </a:extLst>
          </p:cNvPr>
          <p:cNvSpPr txBox="1"/>
          <p:nvPr/>
        </p:nvSpPr>
        <p:spPr>
          <a:xfrm>
            <a:off x="201168" y="1102184"/>
            <a:ext cx="3200400"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Backend &amp; Frameworks </a:t>
            </a:r>
          </a:p>
        </p:txBody>
      </p:sp>
      <p:sp>
        <p:nvSpPr>
          <p:cNvPr id="6" name="TextBox 5">
            <a:extLst>
              <a:ext uri="{FF2B5EF4-FFF2-40B4-BE49-F238E27FC236}">
                <a16:creationId xmlns:a16="http://schemas.microsoft.com/office/drawing/2014/main" id="{B7397D1D-941B-D6B2-CA4B-A0A45E9A50E6}"/>
              </a:ext>
            </a:extLst>
          </p:cNvPr>
          <p:cNvSpPr txBox="1"/>
          <p:nvPr/>
        </p:nvSpPr>
        <p:spPr>
          <a:xfrm>
            <a:off x="365760" y="1508390"/>
            <a:ext cx="2377440" cy="646331"/>
          </a:xfrm>
          <a:prstGeom prst="rect">
            <a:avLst/>
          </a:prstGeom>
          <a:noFill/>
        </p:spPr>
        <p:txBody>
          <a:bodyPr wrap="square" rtlCol="0">
            <a:spAutoFit/>
          </a:bodyPr>
          <a:lstStyle/>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Java </a:t>
            </a:r>
          </a:p>
          <a:p>
            <a:pPr marL="285750" indent="-285750">
              <a:buFont typeface="Wingdings" panose="05000000000000000000" pitchFamily="2" charset="2"/>
              <a:buChar char="q"/>
            </a:pPr>
            <a:r>
              <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Spring Boot</a:t>
            </a:r>
          </a:p>
        </p:txBody>
      </p:sp>
      <p:sp>
        <p:nvSpPr>
          <p:cNvPr id="7" name="TextBox 6">
            <a:extLst>
              <a:ext uri="{FF2B5EF4-FFF2-40B4-BE49-F238E27FC236}">
                <a16:creationId xmlns:a16="http://schemas.microsoft.com/office/drawing/2014/main" id="{F4756E8B-362B-3B50-E1D8-DEB68E7CDF35}"/>
              </a:ext>
            </a:extLst>
          </p:cNvPr>
          <p:cNvSpPr txBox="1"/>
          <p:nvPr/>
        </p:nvSpPr>
        <p:spPr>
          <a:xfrm>
            <a:off x="201168" y="2150832"/>
            <a:ext cx="3200400" cy="400110"/>
          </a:xfrm>
          <a:prstGeom prst="rect">
            <a:avLst/>
          </a:prstGeom>
          <a:noFill/>
        </p:spPr>
        <p:txBody>
          <a:bodyPr wrap="square" rtlCol="0">
            <a:spAutoFit/>
          </a:bodyPr>
          <a:lstStyle/>
          <a:p>
            <a:r>
              <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Mail &amp; Security Servers</a:t>
            </a:r>
          </a:p>
        </p:txBody>
      </p:sp>
      <p:sp>
        <p:nvSpPr>
          <p:cNvPr id="8" name="TextBox 7">
            <a:extLst>
              <a:ext uri="{FF2B5EF4-FFF2-40B4-BE49-F238E27FC236}">
                <a16:creationId xmlns:a16="http://schemas.microsoft.com/office/drawing/2014/main" id="{BC15A60A-6877-A52E-3FED-80F17885C563}"/>
              </a:ext>
            </a:extLst>
          </p:cNvPr>
          <p:cNvSpPr txBox="1"/>
          <p:nvPr/>
        </p:nvSpPr>
        <p:spPr>
          <a:xfrm>
            <a:off x="377952" y="2482277"/>
            <a:ext cx="1865376"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Postfix</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Dovecot</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LDAP</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6E25805-628C-1B6B-C605-C672D8D3FEA6}"/>
              </a:ext>
            </a:extLst>
          </p:cNvPr>
          <p:cNvSpPr txBox="1"/>
          <p:nvPr/>
        </p:nvSpPr>
        <p:spPr>
          <a:xfrm>
            <a:off x="222504" y="3392148"/>
            <a:ext cx="1517904"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Protocols</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0D4237E-8729-628A-0990-E36F71CD0B9C}"/>
              </a:ext>
            </a:extLst>
          </p:cNvPr>
          <p:cNvSpPr txBox="1"/>
          <p:nvPr/>
        </p:nvSpPr>
        <p:spPr>
          <a:xfrm>
            <a:off x="377952" y="3802586"/>
            <a:ext cx="2194560" cy="646331"/>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SMTP Protocol</a:t>
            </a:r>
          </a:p>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IMAP Protocol</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B601F3A5-740D-E8F4-C86C-C2695FF45D76}"/>
              </a:ext>
            </a:extLst>
          </p:cNvPr>
          <p:cNvSpPr txBox="1"/>
          <p:nvPr/>
        </p:nvSpPr>
        <p:spPr>
          <a:xfrm>
            <a:off x="234696" y="4384141"/>
            <a:ext cx="1517904"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Database</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DFFF7738-BF1B-348A-C778-6563004F22FE}"/>
              </a:ext>
            </a:extLst>
          </p:cNvPr>
          <p:cNvSpPr txBox="1"/>
          <p:nvPr/>
        </p:nvSpPr>
        <p:spPr>
          <a:xfrm>
            <a:off x="377952" y="4871749"/>
            <a:ext cx="3986784"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Relational Database :Postgres SQL</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14F32F6D-5B04-AA61-0D78-80173E455572}"/>
              </a:ext>
            </a:extLst>
          </p:cNvPr>
          <p:cNvSpPr txBox="1"/>
          <p:nvPr/>
        </p:nvSpPr>
        <p:spPr>
          <a:xfrm>
            <a:off x="201168" y="5300451"/>
            <a:ext cx="2517648"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rPr>
              <a:t>Operating System</a:t>
            </a:r>
            <a:endParaRPr lang="en-IN" sz="2000" b="1" dirty="0">
              <a:solidFill>
                <a:srgbClr val="00206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C5F026F-5643-6376-415E-5DA9F1111974}"/>
              </a:ext>
            </a:extLst>
          </p:cNvPr>
          <p:cNvSpPr txBox="1"/>
          <p:nvPr/>
        </p:nvSpPr>
        <p:spPr>
          <a:xfrm>
            <a:off x="371117" y="5743733"/>
            <a:ext cx="1947672" cy="369332"/>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WSL-Ubuntu</a:t>
            </a:r>
            <a:endParaRPr lang="en-IN" dirty="0">
              <a:solidFill>
                <a:srgbClr val="0070C0"/>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32184190"/>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srcRect/>
          <a:stretch>
            <a:fillRect/>
          </a:stretch>
        </p:blipFill>
        <p:spPr bwMode="auto">
          <a:xfrm>
            <a:off x="2895600" y="4419600"/>
            <a:ext cx="4291012" cy="1519238"/>
          </a:xfrm>
          <a:prstGeom prst="rect">
            <a:avLst/>
          </a:prstGeom>
          <a:noFill/>
          <a:ln w="9525">
            <a:noFill/>
            <a:miter lim="800000"/>
            <a:headEnd/>
            <a:tailEnd/>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bel">
      <a:dk1>
        <a:srgbClr val="1F497D"/>
      </a:dk1>
      <a:lt1>
        <a:sysClr val="window" lastClr="FFFFFF"/>
      </a:lt1>
      <a:dk2>
        <a:srgbClr val="595959"/>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17000</TotalTime>
  <Words>1114</Words>
  <Application>Microsoft Office PowerPoint</Application>
  <PresentationFormat>On-screen Show (4:3)</PresentationFormat>
  <Paragraphs>141</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Tahoma</vt:lpstr>
      <vt:lpstr>Times New Roman</vt:lpstr>
      <vt:lpstr>Wingdings</vt:lpstr>
      <vt:lpstr>Office Theme</vt:lpstr>
      <vt:lpstr>PowerPoint Presentation</vt:lpstr>
      <vt:lpstr>Agenda</vt:lpstr>
      <vt:lpstr>1. Project Understanding</vt:lpstr>
      <vt:lpstr>Project Understanding contd..</vt:lpstr>
      <vt:lpstr>Project Understanding contd..</vt:lpstr>
      <vt:lpstr>2. What I Have Learnt?</vt:lpstr>
      <vt:lpstr>What I Have Learnt? Contd..</vt:lpstr>
      <vt:lpstr>3. Key Contribution</vt:lpstr>
      <vt:lpstr>Key Contribution Contd..</vt:lpstr>
      <vt:lpstr>4. Suitability of the Work</vt:lpstr>
      <vt:lpstr>Enterprise Resource Planning (ERP)</vt:lpstr>
      <vt:lpstr>API Documentation</vt:lpstr>
      <vt:lpstr>Core ERP Modules</vt:lpstr>
      <vt:lpstr>5. Technologies Used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srishti</dc:creator>
  <cp:lastModifiedBy>BSTC</cp:lastModifiedBy>
  <cp:revision>988</cp:revision>
  <cp:lastPrinted>2017-04-25T08:06:12Z</cp:lastPrinted>
  <dcterms:created xsi:type="dcterms:W3CDTF">2014-11-15T12:35:25Z</dcterms:created>
  <dcterms:modified xsi:type="dcterms:W3CDTF">2026-01-17T05:27:34Z</dcterms:modified>
</cp:coreProperties>
</file>