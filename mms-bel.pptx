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bookmarkIdSeed="4">
  <p:sldMasterIdLst>
    <p:sldMasterId id="2147483648" r:id="rId1"/>
  </p:sldMasterIdLst>
  <p:notesMasterIdLst>
    <p:notesMasterId r:id="rId13"/>
  </p:notesMasterIdLst>
  <p:handoutMasterIdLst>
    <p:handoutMasterId r:id="rId14"/>
  </p:handoutMasterIdLst>
  <p:sldIdLst>
    <p:sldId id="256" r:id="rId2"/>
    <p:sldId id="397" r:id="rId3"/>
    <p:sldId id="493" r:id="rId4"/>
    <p:sldId id="460" r:id="rId5"/>
    <p:sldId id="481" r:id="rId6"/>
    <p:sldId id="462" r:id="rId7"/>
    <p:sldId id="465" r:id="rId8"/>
    <p:sldId id="492" r:id="rId9"/>
    <p:sldId id="495" r:id="rId10"/>
    <p:sldId id="496" r:id="rId11"/>
    <p:sldId id="382" r:id="rId12"/>
  </p:sldIdLst>
  <p:sldSz cx="9144000" cy="6858000" type="screen4x3"/>
  <p:notesSz cx="6797675" cy="9926638"/>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1920">
          <p15:clr>
            <a:srgbClr val="A4A3A4"/>
          </p15:clr>
        </p15:guide>
        <p15:guide id="2" pos="2880">
          <p15:clr>
            <a:srgbClr val="A4A3A4"/>
          </p15:clr>
        </p15:guide>
      </p15:sldGuideLst>
    </p:ext>
    <p:ext uri="{2D200454-40CA-4A62-9FC3-DE9A4176ACB9}">
      <p15:notesGuideLst xmlns:p15="http://schemas.microsoft.com/office/powerpoint/2012/main">
        <p15:guide id="1" orient="horz" pos="3127">
          <p15:clr>
            <a:srgbClr val="A4A3A4"/>
          </p15:clr>
        </p15:guide>
        <p15:guide id="2" pos="2142">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pratibhac" initials="p" lastIdx="9"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80808"/>
    <a:srgbClr val="0000FF"/>
    <a:srgbClr val="FFFFFF"/>
    <a:srgbClr val="FFFF99"/>
    <a:srgbClr val="FFFFCC"/>
    <a:srgbClr val="CC99FF"/>
    <a:srgbClr val="99FFCC"/>
    <a:srgbClr val="FFCC00"/>
    <a:srgbClr val="99FF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394" autoAdjust="0"/>
  </p:normalViewPr>
  <p:slideViewPr>
    <p:cSldViewPr>
      <p:cViewPr varScale="1">
        <p:scale>
          <a:sx n="104" d="100"/>
          <a:sy n="104" d="100"/>
        </p:scale>
        <p:origin x="1824" y="102"/>
      </p:cViewPr>
      <p:guideLst>
        <p:guide orient="horz" pos="1920"/>
        <p:guide pos="2880"/>
      </p:guideLst>
    </p:cSldViewPr>
  </p:slideViewPr>
  <p:notesTextViewPr>
    <p:cViewPr>
      <p:scale>
        <a:sx n="1" d="1"/>
        <a:sy n="1" d="1"/>
      </p:scale>
      <p:origin x="0" y="0"/>
    </p:cViewPr>
  </p:notesTextViewPr>
  <p:sorterViewPr>
    <p:cViewPr>
      <p:scale>
        <a:sx n="66" d="100"/>
        <a:sy n="66" d="100"/>
      </p:scale>
      <p:origin x="0" y="192"/>
    </p:cViewPr>
  </p:sorterViewPr>
  <p:notesViewPr>
    <p:cSldViewPr>
      <p:cViewPr varScale="1">
        <p:scale>
          <a:sx n="53" d="100"/>
          <a:sy n="53" d="100"/>
        </p:scale>
        <p:origin x="-2868" y="-90"/>
      </p:cViewPr>
      <p:guideLst>
        <p:guide orient="horz" pos="3127"/>
        <p:guide pos="2142"/>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commentAuthors" Target="commentAuthors.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3" y="0"/>
            <a:ext cx="2945659" cy="496333"/>
          </a:xfrm>
          <a:prstGeom prst="rect">
            <a:avLst/>
          </a:prstGeom>
        </p:spPr>
        <p:txBody>
          <a:bodyPr vert="horz" lIns="91440" tIns="45720" rIns="91440" bIns="45720" rtlCol="0"/>
          <a:lstStyle>
            <a:lvl1pPr algn="l" fontAlgn="auto">
              <a:spcBef>
                <a:spcPts val="0"/>
              </a:spcBef>
              <a:spcAft>
                <a:spcPts val="0"/>
              </a:spcAft>
              <a:defRPr sz="1200">
                <a:latin typeface="+mn-lt"/>
                <a:cs typeface="+mn-cs"/>
              </a:defRPr>
            </a:lvl1pPr>
          </a:lstStyle>
          <a:p>
            <a:pPr>
              <a:defRPr/>
            </a:pPr>
            <a:endParaRPr lang="en-US"/>
          </a:p>
        </p:txBody>
      </p:sp>
      <p:sp>
        <p:nvSpPr>
          <p:cNvPr id="3" name="Date Placeholder 2"/>
          <p:cNvSpPr>
            <a:spLocks noGrp="1"/>
          </p:cNvSpPr>
          <p:nvPr>
            <p:ph type="dt" sz="quarter" idx="1"/>
          </p:nvPr>
        </p:nvSpPr>
        <p:spPr>
          <a:xfrm>
            <a:off x="3850445" y="0"/>
            <a:ext cx="2945659" cy="496333"/>
          </a:xfrm>
          <a:prstGeom prst="rect">
            <a:avLst/>
          </a:prstGeom>
        </p:spPr>
        <p:txBody>
          <a:bodyPr vert="horz" lIns="91440" tIns="45720" rIns="91440" bIns="45720" rtlCol="0"/>
          <a:lstStyle>
            <a:lvl1pPr algn="r" fontAlgn="auto">
              <a:spcBef>
                <a:spcPts val="0"/>
              </a:spcBef>
              <a:spcAft>
                <a:spcPts val="0"/>
              </a:spcAft>
              <a:defRPr sz="1200">
                <a:latin typeface="+mn-lt"/>
                <a:cs typeface="+mn-cs"/>
              </a:defRPr>
            </a:lvl1pPr>
          </a:lstStyle>
          <a:p>
            <a:pPr>
              <a:defRPr/>
            </a:pPr>
            <a:fld id="{EE17FB0C-4CFB-4DB5-A9F2-C8AFE899451F}" type="datetimeFigureOut">
              <a:rPr lang="en-US"/>
              <a:pPr>
                <a:defRPr/>
              </a:pPr>
              <a:t>1/10/2026</a:t>
            </a:fld>
            <a:endParaRPr lang="en-US"/>
          </a:p>
        </p:txBody>
      </p:sp>
      <p:sp>
        <p:nvSpPr>
          <p:cNvPr id="4" name="Footer Placeholder 3"/>
          <p:cNvSpPr>
            <a:spLocks noGrp="1"/>
          </p:cNvSpPr>
          <p:nvPr>
            <p:ph type="ftr" sz="quarter" idx="2"/>
          </p:nvPr>
        </p:nvSpPr>
        <p:spPr>
          <a:xfrm>
            <a:off x="3" y="9428584"/>
            <a:ext cx="2945659" cy="496333"/>
          </a:xfrm>
          <a:prstGeom prst="rect">
            <a:avLst/>
          </a:prstGeom>
        </p:spPr>
        <p:txBody>
          <a:bodyPr vert="horz" lIns="91440" tIns="45720" rIns="91440" bIns="45720" rtlCol="0" anchor="b"/>
          <a:lstStyle>
            <a:lvl1pPr algn="l" fontAlgn="auto">
              <a:spcBef>
                <a:spcPts val="0"/>
              </a:spcBef>
              <a:spcAft>
                <a:spcPts val="0"/>
              </a:spcAft>
              <a:defRPr sz="1200">
                <a:latin typeface="+mn-lt"/>
                <a:cs typeface="+mn-cs"/>
              </a:defRPr>
            </a:lvl1pPr>
          </a:lstStyle>
          <a:p>
            <a:pPr>
              <a:defRPr/>
            </a:pPr>
            <a:endParaRPr lang="en-US"/>
          </a:p>
        </p:txBody>
      </p:sp>
      <p:sp>
        <p:nvSpPr>
          <p:cNvPr id="5" name="Slide Number Placeholder 4"/>
          <p:cNvSpPr>
            <a:spLocks noGrp="1"/>
          </p:cNvSpPr>
          <p:nvPr>
            <p:ph type="sldNum" sz="quarter" idx="3"/>
          </p:nvPr>
        </p:nvSpPr>
        <p:spPr>
          <a:xfrm>
            <a:off x="3850445" y="9428584"/>
            <a:ext cx="2945659" cy="496333"/>
          </a:xfrm>
          <a:prstGeom prst="rect">
            <a:avLst/>
          </a:prstGeom>
        </p:spPr>
        <p:txBody>
          <a:bodyPr vert="horz" lIns="91440" tIns="45720" rIns="91440" bIns="45720" rtlCol="0" anchor="b"/>
          <a:lstStyle>
            <a:lvl1pPr algn="r" fontAlgn="auto">
              <a:spcBef>
                <a:spcPts val="0"/>
              </a:spcBef>
              <a:spcAft>
                <a:spcPts val="0"/>
              </a:spcAft>
              <a:defRPr sz="1200">
                <a:latin typeface="+mn-lt"/>
                <a:cs typeface="+mn-cs"/>
              </a:defRPr>
            </a:lvl1pPr>
          </a:lstStyle>
          <a:p>
            <a:pPr>
              <a:defRPr/>
            </a:pPr>
            <a:fld id="{0B306386-680C-40E8-9D08-84D19235B998}" type="slidenum">
              <a:rPr lang="en-US"/>
              <a:pPr>
                <a:defRPr/>
              </a:pPr>
              <a:t>‹#›</a:t>
            </a:fld>
            <a:endParaRPr lang="en-US"/>
          </a:p>
        </p:txBody>
      </p:sp>
    </p:spTree>
    <p:extLst>
      <p:ext uri="{BB962C8B-B14F-4D97-AF65-F5344CB8AC3E}">
        <p14:creationId xmlns:p14="http://schemas.microsoft.com/office/powerpoint/2010/main" val="3560223371"/>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3" y="0"/>
            <a:ext cx="2945659" cy="496333"/>
          </a:xfrm>
          <a:prstGeom prst="rect">
            <a:avLst/>
          </a:prstGeom>
        </p:spPr>
        <p:txBody>
          <a:bodyPr vert="horz" lIns="91440" tIns="45720" rIns="91440" bIns="45720" rtlCol="0"/>
          <a:lstStyle>
            <a:lvl1pPr algn="l" fontAlgn="auto">
              <a:spcBef>
                <a:spcPts val="0"/>
              </a:spcBef>
              <a:spcAft>
                <a:spcPts val="0"/>
              </a:spcAft>
              <a:defRPr sz="1200">
                <a:latin typeface="+mn-lt"/>
                <a:cs typeface="+mn-cs"/>
              </a:defRPr>
            </a:lvl1pPr>
          </a:lstStyle>
          <a:p>
            <a:pPr>
              <a:defRPr/>
            </a:pPr>
            <a:endParaRPr lang="en-US"/>
          </a:p>
        </p:txBody>
      </p:sp>
      <p:sp>
        <p:nvSpPr>
          <p:cNvPr id="3" name="Date Placeholder 2"/>
          <p:cNvSpPr>
            <a:spLocks noGrp="1"/>
          </p:cNvSpPr>
          <p:nvPr>
            <p:ph type="dt" idx="1"/>
          </p:nvPr>
        </p:nvSpPr>
        <p:spPr>
          <a:xfrm>
            <a:off x="3850445" y="0"/>
            <a:ext cx="2945659" cy="496333"/>
          </a:xfrm>
          <a:prstGeom prst="rect">
            <a:avLst/>
          </a:prstGeom>
        </p:spPr>
        <p:txBody>
          <a:bodyPr vert="horz" lIns="91440" tIns="45720" rIns="91440" bIns="45720" rtlCol="0"/>
          <a:lstStyle>
            <a:lvl1pPr algn="r" fontAlgn="auto">
              <a:spcBef>
                <a:spcPts val="0"/>
              </a:spcBef>
              <a:spcAft>
                <a:spcPts val="0"/>
              </a:spcAft>
              <a:defRPr sz="1200">
                <a:latin typeface="+mn-lt"/>
                <a:cs typeface="+mn-cs"/>
              </a:defRPr>
            </a:lvl1pPr>
          </a:lstStyle>
          <a:p>
            <a:pPr>
              <a:defRPr/>
            </a:pPr>
            <a:fld id="{0BCC3A1C-3DBB-4568-ACC1-7D0434F32A88}" type="datetimeFigureOut">
              <a:rPr lang="en-US"/>
              <a:pPr>
                <a:defRPr/>
              </a:pPr>
              <a:t>1/10/2026</a:t>
            </a:fld>
            <a:endParaRPr lang="en-US"/>
          </a:p>
        </p:txBody>
      </p:sp>
      <p:sp>
        <p:nvSpPr>
          <p:cNvPr id="4" name="Slide Image Placeholder 3"/>
          <p:cNvSpPr>
            <a:spLocks noGrp="1" noRot="1" noChangeAspect="1"/>
          </p:cNvSpPr>
          <p:nvPr>
            <p:ph type="sldImg" idx="2"/>
          </p:nvPr>
        </p:nvSpPr>
        <p:spPr>
          <a:xfrm>
            <a:off x="917575" y="742950"/>
            <a:ext cx="4965700" cy="3725863"/>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79768" y="4715155"/>
            <a:ext cx="5438140" cy="4466987"/>
          </a:xfrm>
          <a:prstGeom prst="rect">
            <a:avLst/>
          </a:prstGeom>
        </p:spPr>
        <p:txBody>
          <a:bodyPr vert="horz" lIns="91440" tIns="45720" rIns="91440" bIns="4572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3" y="9428584"/>
            <a:ext cx="2945659" cy="496333"/>
          </a:xfrm>
          <a:prstGeom prst="rect">
            <a:avLst/>
          </a:prstGeom>
        </p:spPr>
        <p:txBody>
          <a:bodyPr vert="horz" lIns="91440" tIns="45720" rIns="91440" bIns="45720" rtlCol="0" anchor="b"/>
          <a:lstStyle>
            <a:lvl1pPr algn="l" fontAlgn="auto">
              <a:spcBef>
                <a:spcPts val="0"/>
              </a:spcBef>
              <a:spcAft>
                <a:spcPts val="0"/>
              </a:spcAft>
              <a:defRPr sz="1200">
                <a:latin typeface="+mn-lt"/>
                <a:cs typeface="+mn-cs"/>
              </a:defRPr>
            </a:lvl1pPr>
          </a:lstStyle>
          <a:p>
            <a:pPr>
              <a:defRPr/>
            </a:pPr>
            <a:endParaRPr lang="en-US"/>
          </a:p>
        </p:txBody>
      </p:sp>
      <p:sp>
        <p:nvSpPr>
          <p:cNvPr id="7" name="Slide Number Placeholder 6"/>
          <p:cNvSpPr>
            <a:spLocks noGrp="1"/>
          </p:cNvSpPr>
          <p:nvPr>
            <p:ph type="sldNum" sz="quarter" idx="5"/>
          </p:nvPr>
        </p:nvSpPr>
        <p:spPr>
          <a:xfrm>
            <a:off x="3850445" y="9428584"/>
            <a:ext cx="2945659" cy="496333"/>
          </a:xfrm>
          <a:prstGeom prst="rect">
            <a:avLst/>
          </a:prstGeom>
        </p:spPr>
        <p:txBody>
          <a:bodyPr vert="horz" lIns="91440" tIns="45720" rIns="91440" bIns="45720" rtlCol="0" anchor="b"/>
          <a:lstStyle>
            <a:lvl1pPr algn="r" fontAlgn="auto">
              <a:spcBef>
                <a:spcPts val="0"/>
              </a:spcBef>
              <a:spcAft>
                <a:spcPts val="0"/>
              </a:spcAft>
              <a:defRPr sz="1200">
                <a:latin typeface="+mn-lt"/>
                <a:cs typeface="+mn-cs"/>
              </a:defRPr>
            </a:lvl1pPr>
          </a:lstStyle>
          <a:p>
            <a:pPr>
              <a:defRPr/>
            </a:pPr>
            <a:fld id="{8F7FAAD8-CAE9-474F-80FF-8F1761DCC0AE}" type="slidenum">
              <a:rPr lang="en-US"/>
              <a:pPr>
                <a:defRPr/>
              </a:pPr>
              <a:t>‹#›</a:t>
            </a:fld>
            <a:endParaRPr lang="en-US"/>
          </a:p>
        </p:txBody>
      </p:sp>
    </p:spTree>
    <p:extLst>
      <p:ext uri="{BB962C8B-B14F-4D97-AF65-F5344CB8AC3E}">
        <p14:creationId xmlns:p14="http://schemas.microsoft.com/office/powerpoint/2010/main" val="3514784803"/>
      </p:ext>
    </p:extLst>
  </p:cSld>
  <p:clrMap bg1="lt1" tx1="dk1" bg2="lt2" tx2="dk2" accent1="accent1" accent2="accent2" accent3="accent3" accent4="accent4" accent5="accent5" accent6="accent6" hlink="hlink" folHlink="folHlink"/>
  <p:hf hdr="0" dt="0"/>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a:defRPr/>
            </a:pPr>
            <a:fld id="{8F7FAAD8-CAE9-474F-80FF-8F1761DCC0AE}" type="slidenum">
              <a:rPr lang="en-US" smtClean="0"/>
              <a:pPr>
                <a:defRPr/>
              </a:pPr>
              <a:t>1</a:t>
            </a:fld>
            <a:endParaRPr lang="en-US" dirty="0"/>
          </a:p>
        </p:txBody>
      </p:sp>
      <p:sp>
        <p:nvSpPr>
          <p:cNvPr id="5" name="Footer Placeholder 4"/>
          <p:cNvSpPr>
            <a:spLocks noGrp="1"/>
          </p:cNvSpPr>
          <p:nvPr>
            <p:ph type="ftr" sz="quarter" idx="11"/>
          </p:nvPr>
        </p:nvSpPr>
        <p:spPr/>
        <p:txBody>
          <a:bodyPr/>
          <a:lstStyle/>
          <a:p>
            <a:pPr>
              <a:defRPr/>
            </a:pPr>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pPr>
              <a:defRPr/>
            </a:pPr>
            <a:fld id="{8F7FAAD8-CAE9-474F-80FF-8F1761DCC0AE}" type="slidenum">
              <a:rPr lang="en-US" smtClean="0"/>
              <a:pPr>
                <a:defRPr/>
              </a:pPr>
              <a:t>2</a:t>
            </a:fld>
            <a:endParaRPr lang="en-US" dirty="0"/>
          </a:p>
        </p:txBody>
      </p:sp>
      <p:sp>
        <p:nvSpPr>
          <p:cNvPr id="5" name="Footer Placeholder 4"/>
          <p:cNvSpPr>
            <a:spLocks noGrp="1"/>
          </p:cNvSpPr>
          <p:nvPr>
            <p:ph type="ftr" sz="quarter" idx="11"/>
          </p:nvPr>
        </p:nvSpPr>
        <p:spPr/>
        <p:txBody>
          <a:bodyPr/>
          <a:lstStyle/>
          <a:p>
            <a:pPr>
              <a:defRPr/>
            </a:pPr>
            <a:endParaRPr lang="en-US"/>
          </a:p>
        </p:txBody>
      </p:sp>
    </p:spTree>
    <p:extLst>
      <p:ext uri="{BB962C8B-B14F-4D97-AF65-F5344CB8AC3E}">
        <p14:creationId xmlns:p14="http://schemas.microsoft.com/office/powerpoint/2010/main" val="6086087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pic>
        <p:nvPicPr>
          <p:cNvPr id="2" name="Picture 7"/>
          <p:cNvPicPr>
            <a:picLocks noChangeAspect="1"/>
          </p:cNvPicPr>
          <p:nvPr userDrawn="1"/>
        </p:nvPicPr>
        <p:blipFill>
          <a:blip r:embed="rId2" cstate="print"/>
          <a:srcRect/>
          <a:stretch>
            <a:fillRect/>
          </a:stretch>
        </p:blipFill>
        <p:spPr bwMode="auto">
          <a:xfrm>
            <a:off x="60325" y="0"/>
            <a:ext cx="9023350" cy="6858000"/>
          </a:xfrm>
          <a:prstGeom prst="rect">
            <a:avLst/>
          </a:prstGeom>
          <a:noFill/>
          <a:ln w="9525">
            <a:noFill/>
            <a:miter lim="800000"/>
            <a:headEnd/>
            <a:tailEnd/>
          </a:ln>
        </p:spPr>
      </p:pic>
      <p:pic>
        <p:nvPicPr>
          <p:cNvPr id="3" name="Picture 8"/>
          <p:cNvPicPr>
            <a:picLocks noChangeAspect="1"/>
          </p:cNvPicPr>
          <p:nvPr userDrawn="1"/>
        </p:nvPicPr>
        <p:blipFill>
          <a:blip r:embed="rId3" cstate="print"/>
          <a:srcRect/>
          <a:stretch>
            <a:fillRect/>
          </a:stretch>
        </p:blipFill>
        <p:spPr bwMode="auto">
          <a:xfrm>
            <a:off x="2940050" y="569913"/>
            <a:ext cx="3263900" cy="869950"/>
          </a:xfrm>
          <a:prstGeom prst="rect">
            <a:avLst/>
          </a:prstGeom>
          <a:noFill/>
          <a:ln w="9525">
            <a:noFill/>
            <a:miter lim="800000"/>
            <a:headEnd/>
            <a:tailEnd/>
          </a:ln>
        </p:spPr>
      </p:pic>
      <p:sp>
        <p:nvSpPr>
          <p:cNvPr id="4" name="TextBox 3"/>
          <p:cNvSpPr txBox="1"/>
          <p:nvPr userDrawn="1"/>
        </p:nvSpPr>
        <p:spPr>
          <a:xfrm>
            <a:off x="4876800" y="3762375"/>
            <a:ext cx="3924300" cy="733425"/>
          </a:xfrm>
          <a:prstGeom prst="rect">
            <a:avLst/>
          </a:prstGeom>
          <a:noFill/>
        </p:spPr>
        <p:txBody>
          <a:bodyPr>
            <a:spAutoFit/>
          </a:bodyPr>
          <a:lstStyle/>
          <a:p>
            <a:pPr algn="r" fontAlgn="auto">
              <a:lnSpc>
                <a:spcPts val="2500"/>
              </a:lnSpc>
              <a:spcBef>
                <a:spcPts val="0"/>
              </a:spcBef>
              <a:spcAft>
                <a:spcPts val="0"/>
              </a:spcAft>
              <a:defRPr/>
            </a:pPr>
            <a:r>
              <a:rPr lang="en-US" b="1" dirty="0">
                <a:solidFill>
                  <a:schemeClr val="tx1">
                    <a:lumMod val="50000"/>
                  </a:schemeClr>
                </a:solidFill>
                <a:latin typeface="+mn-lt"/>
                <a:cs typeface="+mn-cs"/>
              </a:rPr>
              <a:t>Shri. G. Mohan Kumar</a:t>
            </a:r>
          </a:p>
          <a:p>
            <a:pPr algn="r" fontAlgn="auto">
              <a:lnSpc>
                <a:spcPts val="2500"/>
              </a:lnSpc>
              <a:spcBef>
                <a:spcPts val="0"/>
              </a:spcBef>
              <a:spcAft>
                <a:spcPts val="0"/>
              </a:spcAft>
              <a:defRPr/>
            </a:pPr>
            <a:r>
              <a:rPr lang="en-US" sz="1400" dirty="0">
                <a:solidFill>
                  <a:schemeClr val="tx1">
                    <a:lumMod val="50000"/>
                  </a:schemeClr>
                </a:solidFill>
                <a:latin typeface="+mn-lt"/>
                <a:cs typeface="+mn-cs"/>
              </a:rPr>
              <a:t>Secretary - </a:t>
            </a:r>
            <a:r>
              <a:rPr lang="en-US" sz="1400" dirty="0" err="1">
                <a:solidFill>
                  <a:schemeClr val="tx1">
                    <a:lumMod val="50000"/>
                  </a:schemeClr>
                </a:solidFill>
                <a:latin typeface="+mn-lt"/>
                <a:cs typeface="+mn-cs"/>
              </a:rPr>
              <a:t>Defence</a:t>
            </a:r>
            <a:r>
              <a:rPr lang="en-US" sz="1400" dirty="0">
                <a:solidFill>
                  <a:schemeClr val="tx1">
                    <a:lumMod val="50000"/>
                  </a:schemeClr>
                </a:solidFill>
                <a:latin typeface="+mn-lt"/>
                <a:cs typeface="+mn-cs"/>
              </a:rPr>
              <a:t> Production</a:t>
            </a:r>
          </a:p>
        </p:txBody>
      </p:sp>
      <p:sp>
        <p:nvSpPr>
          <p:cNvPr id="5" name="TextBox 4"/>
          <p:cNvSpPr txBox="1"/>
          <p:nvPr userDrawn="1"/>
        </p:nvSpPr>
        <p:spPr>
          <a:xfrm>
            <a:off x="4876800" y="3335338"/>
            <a:ext cx="3924300" cy="427037"/>
          </a:xfrm>
          <a:prstGeom prst="rect">
            <a:avLst/>
          </a:prstGeom>
          <a:noFill/>
        </p:spPr>
        <p:txBody>
          <a:bodyPr>
            <a:spAutoFit/>
          </a:bodyPr>
          <a:lstStyle/>
          <a:p>
            <a:pPr algn="r" fontAlgn="auto">
              <a:lnSpc>
                <a:spcPts val="2500"/>
              </a:lnSpc>
              <a:spcBef>
                <a:spcPts val="0"/>
              </a:spcBef>
              <a:spcAft>
                <a:spcPts val="0"/>
              </a:spcAft>
              <a:defRPr/>
            </a:pPr>
            <a:r>
              <a:rPr lang="en-US" sz="2800" dirty="0">
                <a:solidFill>
                  <a:schemeClr val="tx1">
                    <a:lumMod val="50000"/>
                  </a:schemeClr>
                </a:solidFill>
                <a:latin typeface="+mn-lt"/>
                <a:cs typeface="+mn-cs"/>
              </a:rPr>
              <a:t>Hearty Welcome  to</a:t>
            </a:r>
          </a:p>
        </p:txBody>
      </p:sp>
      <p:sp>
        <p:nvSpPr>
          <p:cNvPr id="6" name="Date Placeholder 3"/>
          <p:cNvSpPr>
            <a:spLocks noGrp="1"/>
          </p:cNvSpPr>
          <p:nvPr>
            <p:ph type="dt" sz="half" idx="10"/>
          </p:nvPr>
        </p:nvSpPr>
        <p:spPr/>
        <p:txBody>
          <a:bodyPr/>
          <a:lstStyle>
            <a:lvl1pPr>
              <a:defRPr/>
            </a:lvl1pPr>
          </a:lstStyle>
          <a:p>
            <a:pPr>
              <a:defRPr/>
            </a:pPr>
            <a:endParaRPr lang="en-US"/>
          </a:p>
        </p:txBody>
      </p:sp>
      <p:sp>
        <p:nvSpPr>
          <p:cNvPr id="7" name="Footer Placeholder 4"/>
          <p:cNvSpPr>
            <a:spLocks noGrp="1"/>
          </p:cNvSpPr>
          <p:nvPr>
            <p:ph type="ftr" sz="quarter" idx="11"/>
          </p:nvPr>
        </p:nvSpPr>
        <p:spPr/>
        <p:txBody>
          <a:bodyPr/>
          <a:lstStyle>
            <a:lvl1pPr>
              <a:defRPr/>
            </a:lvl1pPr>
          </a:lstStyle>
          <a:p>
            <a:pPr>
              <a:defRPr/>
            </a:pPr>
            <a:endParaRPr lang="en-US"/>
          </a:p>
        </p:txBody>
      </p:sp>
      <p:sp>
        <p:nvSpPr>
          <p:cNvPr id="8" name="Slide Number Placeholder 5"/>
          <p:cNvSpPr>
            <a:spLocks noGrp="1"/>
          </p:cNvSpPr>
          <p:nvPr>
            <p:ph type="sldNum" sz="quarter" idx="12"/>
          </p:nvPr>
        </p:nvSpPr>
        <p:spPr/>
        <p:txBody>
          <a:bodyPr/>
          <a:lstStyle>
            <a:lvl1pPr>
              <a:defRPr/>
            </a:lvl1pPr>
          </a:lstStyle>
          <a:p>
            <a:pPr>
              <a:defRPr/>
            </a:pPr>
            <a:fld id="{2F12015E-2EC1-493B-AC18-5D605B35E823}" type="slidenum">
              <a:rPr lang="en-US"/>
              <a:pPr>
                <a:defRPr/>
              </a:pPr>
              <a:t>‹#›</a:t>
            </a:fld>
            <a:endParaRPr lang="en-US"/>
          </a:p>
        </p:txBody>
      </p:sp>
    </p:spTree>
  </p:cSld>
  <p:clrMapOvr>
    <a:masterClrMapping/>
  </p:clrMapOvr>
  <p:transition spd="med">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DB92475-1994-407E-B991-1150DC507930}" type="slidenum">
              <a:rPr lang="en-US"/>
              <a:pPr>
                <a:defRPr/>
              </a:pPr>
              <a:t>‹#›</a:t>
            </a:fld>
            <a:endParaRPr lang="en-US"/>
          </a:p>
        </p:txBody>
      </p:sp>
    </p:spTree>
  </p:cSld>
  <p:clrMapOvr>
    <a:masterClrMapping/>
  </p:clrMapOvr>
  <p:transition spd="med">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pic>
        <p:nvPicPr>
          <p:cNvPr id="4" name="Picture 4" descr="E:\source\Bharat electronics\BEL\2000px-Bharat_Electronics_logo.svg.png"/>
          <p:cNvPicPr>
            <a:picLocks noChangeAspect="1" noChangeArrowheads="1"/>
          </p:cNvPicPr>
          <p:nvPr userDrawn="1"/>
        </p:nvPicPr>
        <p:blipFill>
          <a:blip r:embed="rId2" cstate="print"/>
          <a:srcRect/>
          <a:stretch>
            <a:fillRect/>
          </a:stretch>
        </p:blipFill>
        <p:spPr bwMode="auto">
          <a:xfrm>
            <a:off x="7275513" y="315913"/>
            <a:ext cx="1676400" cy="446087"/>
          </a:xfrm>
          <a:prstGeom prst="rect">
            <a:avLst/>
          </a:prstGeom>
          <a:noFill/>
          <a:ln w="9525">
            <a:noFill/>
            <a:miter lim="800000"/>
            <a:headEnd/>
            <a:tailEnd/>
          </a:ln>
        </p:spPr>
      </p:pic>
      <p:grpSp>
        <p:nvGrpSpPr>
          <p:cNvPr id="5" name="Group 4"/>
          <p:cNvGrpSpPr/>
          <p:nvPr userDrawn="1"/>
        </p:nvGrpSpPr>
        <p:grpSpPr>
          <a:xfrm>
            <a:off x="152400" y="792833"/>
            <a:ext cx="8841682" cy="218088"/>
            <a:chOff x="457200" y="783758"/>
            <a:chExt cx="9289288" cy="261706"/>
          </a:xfrm>
          <a:solidFill>
            <a:srgbClr val="19C3FF"/>
          </a:solidFill>
        </p:grpSpPr>
        <p:sp>
          <p:nvSpPr>
            <p:cNvPr id="6" name="Rectangle 5"/>
            <p:cNvSpPr/>
            <p:nvPr/>
          </p:nvSpPr>
          <p:spPr>
            <a:xfrm>
              <a:off x="457200" y="990600"/>
              <a:ext cx="9289288" cy="5486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8" name="Right Triangle 7"/>
            <p:cNvSpPr/>
            <p:nvPr/>
          </p:nvSpPr>
          <p:spPr>
            <a:xfrm>
              <a:off x="457200" y="783758"/>
              <a:ext cx="206844" cy="206843"/>
            </a:xfrm>
            <a:prstGeom prst="r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sp>
        <p:nvSpPr>
          <p:cNvPr id="2" name="Title 1"/>
          <p:cNvSpPr>
            <a:spLocks noGrp="1"/>
          </p:cNvSpPr>
          <p:nvPr>
            <p:ph type="title"/>
          </p:nvPr>
        </p:nvSpPr>
        <p:spPr/>
        <p:txBody>
          <a:bodyPr/>
          <a:lstStyle>
            <a:lvl1pPr>
              <a:defRPr b="0">
                <a:solidFill>
                  <a:srgbClr val="377BCD"/>
                </a:solidFill>
              </a:defRPr>
            </a:lvl1pPr>
          </a:lstStyle>
          <a:p>
            <a:r>
              <a:rPr lang="en-US"/>
              <a:t>Click to edit Master title style</a:t>
            </a:r>
          </a:p>
        </p:txBody>
      </p:sp>
      <p:sp>
        <p:nvSpPr>
          <p:cNvPr id="7" name="Text Placeholder 6"/>
          <p:cNvSpPr>
            <a:spLocks noGrp="1"/>
          </p:cNvSpPr>
          <p:nvPr>
            <p:ph type="body" sz="quarter" idx="13"/>
          </p:nvPr>
        </p:nvSpPr>
        <p:spPr>
          <a:xfrm>
            <a:off x="457200" y="967944"/>
            <a:ext cx="6934200" cy="457200"/>
          </a:xfrm>
        </p:spPr>
        <p:txBody>
          <a:bodyPr>
            <a:noAutofit/>
          </a:bodyPr>
          <a:lstStyle>
            <a:lvl1pPr marL="0" indent="0">
              <a:buNone/>
              <a:defRPr sz="2800">
                <a:solidFill>
                  <a:srgbClr val="377BCD"/>
                </a:solidFill>
              </a:defRPr>
            </a:lvl1pPr>
          </a:lstStyle>
          <a:p>
            <a:pPr lvl="0"/>
            <a:r>
              <a:rPr lang="en-US" dirty="0"/>
              <a:t>Click to edit Master text styles</a:t>
            </a:r>
          </a:p>
        </p:txBody>
      </p:sp>
      <p:sp>
        <p:nvSpPr>
          <p:cNvPr id="9" name="Date Placeholder 2"/>
          <p:cNvSpPr>
            <a:spLocks noGrp="1"/>
          </p:cNvSpPr>
          <p:nvPr>
            <p:ph type="dt" sz="half" idx="14"/>
          </p:nvPr>
        </p:nvSpPr>
        <p:spPr/>
        <p:txBody>
          <a:bodyPr/>
          <a:lstStyle>
            <a:lvl1pPr>
              <a:defRPr/>
            </a:lvl1pPr>
          </a:lstStyle>
          <a:p>
            <a:pPr>
              <a:defRPr/>
            </a:pPr>
            <a:endParaRPr lang="en-US"/>
          </a:p>
        </p:txBody>
      </p:sp>
      <p:sp>
        <p:nvSpPr>
          <p:cNvPr id="10" name="Footer Placeholder 3"/>
          <p:cNvSpPr>
            <a:spLocks noGrp="1"/>
          </p:cNvSpPr>
          <p:nvPr>
            <p:ph type="ftr" sz="quarter" idx="15"/>
          </p:nvPr>
        </p:nvSpPr>
        <p:spPr/>
        <p:txBody>
          <a:bodyPr/>
          <a:lstStyle>
            <a:lvl1pPr>
              <a:defRPr/>
            </a:lvl1pPr>
          </a:lstStyle>
          <a:p>
            <a:pPr>
              <a:defRPr/>
            </a:pPr>
            <a:endParaRPr lang="en-US"/>
          </a:p>
        </p:txBody>
      </p:sp>
      <p:sp>
        <p:nvSpPr>
          <p:cNvPr id="11" name="Slide Number Placeholder 4"/>
          <p:cNvSpPr>
            <a:spLocks noGrp="1"/>
          </p:cNvSpPr>
          <p:nvPr>
            <p:ph type="sldNum" sz="quarter" idx="16"/>
          </p:nvPr>
        </p:nvSpPr>
        <p:spPr/>
        <p:txBody>
          <a:bodyPr/>
          <a:lstStyle>
            <a:lvl1pPr>
              <a:defRPr/>
            </a:lvl1pPr>
          </a:lstStyle>
          <a:p>
            <a:pPr>
              <a:defRPr/>
            </a:pPr>
            <a:fld id="{0629659C-4511-43ED-BB93-4246E9669B29}" type="slidenum">
              <a:rPr lang="en-US"/>
              <a:pPr>
                <a:defRPr/>
              </a:pPr>
              <a:t>‹#›</a:t>
            </a:fld>
            <a:endParaRPr lang="en-US"/>
          </a:p>
        </p:txBody>
      </p:sp>
    </p:spTree>
  </p:cSld>
  <p:clrMapOvr>
    <a:masterClrMapping/>
  </p:clrMapOvr>
  <p:transition spd="med">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Title and Content">
    <p:spTree>
      <p:nvGrpSpPr>
        <p:cNvPr id="1" name=""/>
        <p:cNvGrpSpPr/>
        <p:nvPr/>
      </p:nvGrpSpPr>
      <p:grpSpPr>
        <a:xfrm>
          <a:off x="0" y="0"/>
          <a:ext cx="0" cy="0"/>
          <a:chOff x="0" y="0"/>
          <a:chExt cx="0" cy="0"/>
        </a:xfrm>
      </p:grpSpPr>
      <p:sp>
        <p:nvSpPr>
          <p:cNvPr id="4" name="Rectangle 3"/>
          <p:cNvSpPr/>
          <p:nvPr userDrawn="1"/>
        </p:nvSpPr>
        <p:spPr>
          <a:xfrm>
            <a:off x="152400" y="152400"/>
            <a:ext cx="8841682" cy="6602506"/>
          </a:xfrm>
          <a:prstGeom prst="rect">
            <a:avLst/>
          </a:prstGeom>
          <a:gradFill flip="none" rotWithShape="1">
            <a:gsLst>
              <a:gs pos="100000">
                <a:schemeClr val="bg1">
                  <a:lumMod val="92000"/>
                </a:schemeClr>
              </a:gs>
              <a:gs pos="0">
                <a:srgbClr val="B7ECFF">
                  <a:alpha val="69000"/>
                  <a:lumMod val="36000"/>
                  <a:lumOff val="64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pic>
        <p:nvPicPr>
          <p:cNvPr id="5" name="Picture 8" descr="E:\source\Bharat electronics\BEL\2000px-Bharat_Electronics_logo.svg.png"/>
          <p:cNvPicPr>
            <a:picLocks noChangeAspect="1" noChangeArrowheads="1"/>
          </p:cNvPicPr>
          <p:nvPr userDrawn="1"/>
        </p:nvPicPr>
        <p:blipFill>
          <a:blip r:embed="rId2" cstate="print"/>
          <a:srcRect/>
          <a:stretch>
            <a:fillRect/>
          </a:stretch>
        </p:blipFill>
        <p:spPr bwMode="auto">
          <a:xfrm>
            <a:off x="7275513" y="315913"/>
            <a:ext cx="1676400" cy="446087"/>
          </a:xfrm>
          <a:prstGeom prst="rect">
            <a:avLst/>
          </a:prstGeom>
          <a:noFill/>
          <a:ln w="9525">
            <a:noFill/>
            <a:miter lim="800000"/>
            <a:headEnd/>
            <a:tailEnd/>
          </a:ln>
        </p:spPr>
      </p:pic>
      <p:grpSp>
        <p:nvGrpSpPr>
          <p:cNvPr id="7" name="Group 27"/>
          <p:cNvGrpSpPr/>
          <p:nvPr userDrawn="1"/>
        </p:nvGrpSpPr>
        <p:grpSpPr>
          <a:xfrm>
            <a:off x="152400" y="792833"/>
            <a:ext cx="8841682" cy="218088"/>
            <a:chOff x="457200" y="783758"/>
            <a:chExt cx="9289288" cy="261706"/>
          </a:xfrm>
          <a:solidFill>
            <a:srgbClr val="19C3FF"/>
          </a:solidFill>
        </p:grpSpPr>
        <p:sp>
          <p:nvSpPr>
            <p:cNvPr id="8" name="Rectangle 7"/>
            <p:cNvSpPr/>
            <p:nvPr/>
          </p:nvSpPr>
          <p:spPr>
            <a:xfrm>
              <a:off x="457200" y="990600"/>
              <a:ext cx="9289288" cy="5486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9" name="Right Triangle 8"/>
            <p:cNvSpPr/>
            <p:nvPr/>
          </p:nvSpPr>
          <p:spPr>
            <a:xfrm>
              <a:off x="457200" y="783758"/>
              <a:ext cx="206844" cy="206843"/>
            </a:xfrm>
            <a:prstGeom prst="r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sp>
        <p:nvSpPr>
          <p:cNvPr id="2" name="Title 1"/>
          <p:cNvSpPr>
            <a:spLocks noGrp="1"/>
          </p:cNvSpPr>
          <p:nvPr>
            <p:ph type="title"/>
          </p:nvPr>
        </p:nvSpPr>
        <p:spPr/>
        <p:txBody>
          <a:bodyPr/>
          <a:lstStyle>
            <a:lvl1pPr>
              <a:defRPr b="0">
                <a:solidFill>
                  <a:srgbClr val="377BCD"/>
                </a:solidFill>
              </a:defRPr>
            </a:lvl1pPr>
          </a:lstStyle>
          <a:p>
            <a:r>
              <a:rPr lang="en-US" dirty="0"/>
              <a:t>Click to edit Master title style</a:t>
            </a:r>
          </a:p>
        </p:txBody>
      </p:sp>
      <p:sp>
        <p:nvSpPr>
          <p:cNvPr id="6" name="Text Placeholder 5"/>
          <p:cNvSpPr>
            <a:spLocks noGrp="1"/>
          </p:cNvSpPr>
          <p:nvPr>
            <p:ph type="body" sz="quarter" idx="10"/>
          </p:nvPr>
        </p:nvSpPr>
        <p:spPr>
          <a:xfrm>
            <a:off x="465265" y="914400"/>
            <a:ext cx="7016750" cy="436562"/>
          </a:xfrm>
        </p:spPr>
        <p:txBody>
          <a:bodyPr>
            <a:noAutofit/>
          </a:bodyPr>
          <a:lstStyle>
            <a:lvl1pPr marL="0" indent="0">
              <a:buNone/>
              <a:defRPr sz="2800">
                <a:solidFill>
                  <a:srgbClr val="377BCD"/>
                </a:solidFill>
              </a:defRPr>
            </a:lvl1pPr>
          </a:lstStyle>
          <a:p>
            <a:pPr lvl="0"/>
            <a:r>
              <a:rPr lang="en-US" dirty="0"/>
              <a:t>Click to edit Master text styles</a:t>
            </a:r>
          </a:p>
        </p:txBody>
      </p:sp>
    </p:spTree>
  </p:cSld>
  <p:clrMapOvr>
    <a:masterClrMapping/>
  </p:clrMapOvr>
  <p:transition spd="med">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a:solidFill>
                  <a:srgbClr val="377BCD"/>
                </a:solidFill>
              </a:defRPr>
            </a:lvl1p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6066ED06-ADEC-4ED7-A1C4-6F5F6738B819}" type="slidenum">
              <a:rPr lang="en-US"/>
              <a:pPr>
                <a:defRPr/>
              </a:pPr>
              <a:t>‹#›</a:t>
            </a:fld>
            <a:endParaRPr lang="en-US"/>
          </a:p>
        </p:txBody>
      </p:sp>
    </p:spTree>
  </p:cSld>
  <p:clrMapOvr>
    <a:masterClrMapping/>
  </p:clrMapOvr>
  <p:transition spd="med">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34AF84CA-26F2-4D60-A432-6F5FAC86305D}" type="slidenum">
              <a:rPr lang="en-US"/>
              <a:pPr>
                <a:defRPr/>
              </a:pPr>
              <a:t>‹#›</a:t>
            </a:fld>
            <a:endParaRPr lang="en-US"/>
          </a:p>
        </p:txBody>
      </p:sp>
    </p:spTree>
  </p:cSld>
  <p:clrMapOvr>
    <a:masterClrMapping/>
  </p:clrMapOvr>
  <p:transition spd="med">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4" name="Rectangle 3"/>
          <p:cNvSpPr/>
          <p:nvPr userDrawn="1"/>
        </p:nvSpPr>
        <p:spPr>
          <a:xfrm>
            <a:off x="152400" y="152400"/>
            <a:ext cx="8841682" cy="6602506"/>
          </a:xfrm>
          <a:prstGeom prst="rect">
            <a:avLst/>
          </a:prstGeom>
          <a:gradFill flip="none" rotWithShape="1">
            <a:gsLst>
              <a:gs pos="100000">
                <a:schemeClr val="bg1">
                  <a:lumMod val="92000"/>
                </a:schemeClr>
              </a:gs>
              <a:gs pos="0">
                <a:srgbClr val="B7ECFF">
                  <a:alpha val="69000"/>
                  <a:lumMod val="36000"/>
                  <a:lumOff val="64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pic>
        <p:nvPicPr>
          <p:cNvPr id="5" name="Picture 8" descr="E:\source\Bharat electronics\BEL\2000px-Bharat_Electronics_logo.svg.png"/>
          <p:cNvPicPr>
            <a:picLocks noChangeAspect="1" noChangeArrowheads="1"/>
          </p:cNvPicPr>
          <p:nvPr userDrawn="1"/>
        </p:nvPicPr>
        <p:blipFill>
          <a:blip r:embed="rId2" cstate="print"/>
          <a:srcRect/>
          <a:stretch>
            <a:fillRect/>
          </a:stretch>
        </p:blipFill>
        <p:spPr bwMode="auto">
          <a:xfrm>
            <a:off x="7275513" y="315913"/>
            <a:ext cx="1676400" cy="446087"/>
          </a:xfrm>
          <a:prstGeom prst="rect">
            <a:avLst/>
          </a:prstGeom>
          <a:noFill/>
          <a:ln w="9525">
            <a:noFill/>
            <a:miter lim="800000"/>
            <a:headEnd/>
            <a:tailEnd/>
          </a:ln>
        </p:spPr>
      </p:pic>
      <p:grpSp>
        <p:nvGrpSpPr>
          <p:cNvPr id="6" name="Group 27"/>
          <p:cNvGrpSpPr>
            <a:grpSpLocks/>
          </p:cNvGrpSpPr>
          <p:nvPr userDrawn="1"/>
        </p:nvGrpSpPr>
        <p:grpSpPr bwMode="auto">
          <a:xfrm>
            <a:off x="152400" y="792163"/>
            <a:ext cx="8842375" cy="219075"/>
            <a:chOff x="457200" y="783758"/>
            <a:chExt cx="9289288" cy="261706"/>
          </a:xfrm>
        </p:grpSpPr>
        <p:sp>
          <p:nvSpPr>
            <p:cNvPr id="7" name="Rectangle 6"/>
            <p:cNvSpPr/>
            <p:nvPr userDrawn="1"/>
          </p:nvSpPr>
          <p:spPr>
            <a:xfrm>
              <a:off x="457200" y="990467"/>
              <a:ext cx="9289288" cy="54997"/>
            </a:xfrm>
            <a:prstGeom prst="rect">
              <a:avLst/>
            </a:prstGeom>
            <a:solidFill>
              <a:srgbClr val="6DD9F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8" name="Right Triangle 7"/>
            <p:cNvSpPr/>
            <p:nvPr userDrawn="1"/>
          </p:nvSpPr>
          <p:spPr>
            <a:xfrm>
              <a:off x="457200" y="783758"/>
              <a:ext cx="206799" cy="206709"/>
            </a:xfrm>
            <a:prstGeom prst="rtTriangle">
              <a:avLst/>
            </a:prstGeom>
            <a:solidFill>
              <a:srgbClr val="6DD9F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sp>
        <p:nvSpPr>
          <p:cNvPr id="3" name="Content Placeholder 2"/>
          <p:cNvSpPr>
            <a:spLocks noGrp="1"/>
          </p:cNvSpPr>
          <p:nvPr>
            <p:ph idx="1"/>
          </p:nvPr>
        </p:nvSpPr>
        <p:spPr/>
        <p:txBody>
          <a:bodyPr>
            <a:normAutofit/>
          </a:bodyPr>
          <a:lstStyle>
            <a:lvl1pPr>
              <a:defRPr sz="2800"/>
            </a:lvl1pPr>
            <a:lvl2pPr>
              <a:defRPr sz="2400"/>
            </a:lvl2pPr>
            <a:lvl3pPr>
              <a:defRPr sz="2000"/>
            </a:lvl3pPr>
            <a:lvl4pPr>
              <a:defRPr sz="1800"/>
            </a:lvl4pPr>
            <a:lvl5pPr>
              <a:defRPr sz="18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p:txBody>
          <a:bodyPr/>
          <a:lstStyle/>
          <a:p>
            <a:r>
              <a:rPr lang="en-US" dirty="0"/>
              <a:t>Click to edit Master title style</a:t>
            </a:r>
          </a:p>
        </p:txBody>
      </p:sp>
    </p:spTree>
  </p:cSld>
  <p:clrMapOvr>
    <a:masterClrMapping/>
  </p:clrMapOvr>
  <p:transition spd="med">
    <p:fade/>
  </p:transition>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userDrawn="1"/>
        </p:nvSpPr>
        <p:spPr>
          <a:xfrm>
            <a:off x="152400" y="152400"/>
            <a:ext cx="8841682" cy="6602506"/>
          </a:xfrm>
          <a:prstGeom prst="rect">
            <a:avLst/>
          </a:prstGeom>
          <a:gradFill flip="none" rotWithShape="1">
            <a:gsLst>
              <a:gs pos="100000">
                <a:schemeClr val="bg1">
                  <a:lumMod val="92000"/>
                </a:schemeClr>
              </a:gs>
              <a:gs pos="0">
                <a:srgbClr val="B7ECFF">
                  <a:alpha val="69000"/>
                  <a:lumMod val="36000"/>
                  <a:lumOff val="64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9221" name="Text Placeholder 2"/>
          <p:cNvSpPr>
            <a:spLocks noGrp="1"/>
          </p:cNvSpPr>
          <p:nvPr>
            <p:ph type="body" idx="1"/>
          </p:nvPr>
        </p:nvSpPr>
        <p:spPr bwMode="auto">
          <a:xfrm>
            <a:off x="457200" y="1600200"/>
            <a:ext cx="8229600" cy="452596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fontAlgn="auto">
              <a:spcBef>
                <a:spcPts val="0"/>
              </a:spcBef>
              <a:spcAft>
                <a:spcPts val="0"/>
              </a:spcAft>
              <a:defRPr sz="1200">
                <a:solidFill>
                  <a:schemeClr val="tx1">
                    <a:tint val="75000"/>
                  </a:schemeClr>
                </a:solidFill>
                <a:latin typeface="+mn-lt"/>
                <a:cs typeface="+mn-cs"/>
              </a:defRPr>
            </a:lvl1pPr>
          </a:lstStyle>
          <a:p>
            <a:pPr>
              <a:defRPr/>
            </a:pPr>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mn-lt"/>
                <a:cs typeface="+mn-cs"/>
              </a:defRPr>
            </a:lvl1pPr>
          </a:lstStyle>
          <a:p>
            <a:pPr>
              <a:defRPr/>
            </a:pPr>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fontAlgn="auto">
              <a:spcBef>
                <a:spcPts val="0"/>
              </a:spcBef>
              <a:spcAft>
                <a:spcPts val="0"/>
              </a:spcAft>
              <a:defRPr sz="1200">
                <a:solidFill>
                  <a:schemeClr val="tx1">
                    <a:tint val="75000"/>
                  </a:schemeClr>
                </a:solidFill>
                <a:latin typeface="+mn-lt"/>
                <a:cs typeface="+mn-cs"/>
              </a:defRPr>
            </a:lvl1pPr>
          </a:lstStyle>
          <a:p>
            <a:pPr>
              <a:defRPr/>
            </a:pPr>
            <a:fld id="{3343AD33-3F82-4C19-9B83-7261C4AF7969}" type="slidenum">
              <a:rPr lang="en-US"/>
              <a:pPr>
                <a:defRPr/>
              </a:pPr>
              <a:t>‹#›</a:t>
            </a:fld>
            <a:endParaRPr lang="en-US"/>
          </a:p>
        </p:txBody>
      </p:sp>
      <p:sp>
        <p:nvSpPr>
          <p:cNvPr id="9225" name="Title Placeholder 1"/>
          <p:cNvSpPr>
            <a:spLocks noGrp="1"/>
          </p:cNvSpPr>
          <p:nvPr>
            <p:ph type="title"/>
          </p:nvPr>
        </p:nvSpPr>
        <p:spPr bwMode="auto">
          <a:xfrm>
            <a:off x="457200" y="350838"/>
            <a:ext cx="6858000" cy="639762"/>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Tree>
  </p:cSld>
  <p:clrMap bg1="lt1" tx1="dk1" bg2="lt2" tx2="dk2" accent1="accent1" accent2="accent2" accent3="accent3" accent4="accent4" accent5="accent5" accent6="accent6" hlink="hlink" folHlink="folHlink"/>
  <p:sldLayoutIdLst>
    <p:sldLayoutId id="2147483691" r:id="rId1"/>
    <p:sldLayoutId id="2147483688" r:id="rId2"/>
    <p:sldLayoutId id="2147483692" r:id="rId3"/>
    <p:sldLayoutId id="2147483693" r:id="rId4"/>
    <p:sldLayoutId id="2147483689" r:id="rId5"/>
    <p:sldLayoutId id="2147483690" r:id="rId6"/>
    <p:sldLayoutId id="2147483694" r:id="rId7"/>
  </p:sldLayoutIdLst>
  <p:transition spd="med">
    <p:fade/>
  </p:transition>
  <p:hf hdr="0" dt="0"/>
  <p:txStyles>
    <p:titleStyle>
      <a:lvl1pPr algn="l" rtl="0" eaLnBrk="0" fontAlgn="base" hangingPunct="0">
        <a:spcBef>
          <a:spcPct val="0"/>
        </a:spcBef>
        <a:spcAft>
          <a:spcPct val="0"/>
        </a:spcAft>
        <a:defRPr sz="3200" kern="1200">
          <a:solidFill>
            <a:srgbClr val="377BCD"/>
          </a:solidFill>
          <a:latin typeface="Arial" panose="020B0604020202020204" pitchFamily="34" charset="0"/>
          <a:ea typeface="+mj-ea"/>
          <a:cs typeface="Arial" panose="020B0604020202020204" pitchFamily="34" charset="0"/>
        </a:defRPr>
      </a:lvl1pPr>
      <a:lvl2pPr algn="l" rtl="0" eaLnBrk="0" fontAlgn="base" hangingPunct="0">
        <a:spcBef>
          <a:spcPct val="0"/>
        </a:spcBef>
        <a:spcAft>
          <a:spcPct val="0"/>
        </a:spcAft>
        <a:defRPr sz="3200">
          <a:solidFill>
            <a:srgbClr val="377BCD"/>
          </a:solidFill>
          <a:latin typeface="Arial" charset="0"/>
          <a:cs typeface="Arial" charset="0"/>
        </a:defRPr>
      </a:lvl2pPr>
      <a:lvl3pPr algn="l" rtl="0" eaLnBrk="0" fontAlgn="base" hangingPunct="0">
        <a:spcBef>
          <a:spcPct val="0"/>
        </a:spcBef>
        <a:spcAft>
          <a:spcPct val="0"/>
        </a:spcAft>
        <a:defRPr sz="3200">
          <a:solidFill>
            <a:srgbClr val="377BCD"/>
          </a:solidFill>
          <a:latin typeface="Arial" charset="0"/>
          <a:cs typeface="Arial" charset="0"/>
        </a:defRPr>
      </a:lvl3pPr>
      <a:lvl4pPr algn="l" rtl="0" eaLnBrk="0" fontAlgn="base" hangingPunct="0">
        <a:spcBef>
          <a:spcPct val="0"/>
        </a:spcBef>
        <a:spcAft>
          <a:spcPct val="0"/>
        </a:spcAft>
        <a:defRPr sz="3200">
          <a:solidFill>
            <a:srgbClr val="377BCD"/>
          </a:solidFill>
          <a:latin typeface="Arial" charset="0"/>
          <a:cs typeface="Arial" charset="0"/>
        </a:defRPr>
      </a:lvl4pPr>
      <a:lvl5pPr algn="l" rtl="0" eaLnBrk="0" fontAlgn="base" hangingPunct="0">
        <a:spcBef>
          <a:spcPct val="0"/>
        </a:spcBef>
        <a:spcAft>
          <a:spcPct val="0"/>
        </a:spcAft>
        <a:defRPr sz="3200">
          <a:solidFill>
            <a:srgbClr val="377BCD"/>
          </a:solidFill>
          <a:latin typeface="Arial" charset="0"/>
          <a:cs typeface="Arial" charset="0"/>
        </a:defRPr>
      </a:lvl5pPr>
      <a:lvl6pPr marL="457200" algn="l" rtl="0" fontAlgn="base">
        <a:spcBef>
          <a:spcPct val="0"/>
        </a:spcBef>
        <a:spcAft>
          <a:spcPct val="0"/>
        </a:spcAft>
        <a:defRPr sz="3200">
          <a:solidFill>
            <a:srgbClr val="377BCD"/>
          </a:solidFill>
          <a:latin typeface="Arial" charset="0"/>
          <a:cs typeface="Arial" charset="0"/>
        </a:defRPr>
      </a:lvl6pPr>
      <a:lvl7pPr marL="914400" algn="l" rtl="0" fontAlgn="base">
        <a:spcBef>
          <a:spcPct val="0"/>
        </a:spcBef>
        <a:spcAft>
          <a:spcPct val="0"/>
        </a:spcAft>
        <a:defRPr sz="3200">
          <a:solidFill>
            <a:srgbClr val="377BCD"/>
          </a:solidFill>
          <a:latin typeface="Arial" charset="0"/>
          <a:cs typeface="Arial" charset="0"/>
        </a:defRPr>
      </a:lvl7pPr>
      <a:lvl8pPr marL="1371600" algn="l" rtl="0" fontAlgn="base">
        <a:spcBef>
          <a:spcPct val="0"/>
        </a:spcBef>
        <a:spcAft>
          <a:spcPct val="0"/>
        </a:spcAft>
        <a:defRPr sz="3200">
          <a:solidFill>
            <a:srgbClr val="377BCD"/>
          </a:solidFill>
          <a:latin typeface="Arial" charset="0"/>
          <a:cs typeface="Arial" charset="0"/>
        </a:defRPr>
      </a:lvl8pPr>
      <a:lvl9pPr marL="1828800" algn="l" rtl="0" fontAlgn="base">
        <a:spcBef>
          <a:spcPct val="0"/>
        </a:spcBef>
        <a:spcAft>
          <a:spcPct val="0"/>
        </a:spcAft>
        <a:defRPr sz="3200">
          <a:solidFill>
            <a:srgbClr val="377BCD"/>
          </a:solidFill>
          <a:latin typeface="Arial" charset="0"/>
          <a:cs typeface="Arial"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Arial" panose="020B0604020202020204" pitchFamily="34" charset="0"/>
          <a:ea typeface="+mn-ea"/>
          <a:cs typeface="Arial" panose="020B0604020202020204" pitchFamily="34" charset="0"/>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Arial" panose="020B0604020202020204" pitchFamily="34" charset="0"/>
          <a:ea typeface="+mn-ea"/>
          <a:cs typeface="Arial" panose="020B0604020202020204" pitchFamily="34" charset="0"/>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Arial" panose="020B0604020202020204" pitchFamily="34" charset="0"/>
          <a:ea typeface="+mn-ea"/>
          <a:cs typeface="Arial" panose="020B0604020202020204" pitchFamily="34" charset="0"/>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Arial" panose="020B0604020202020204" pitchFamily="34" charset="0"/>
          <a:ea typeface="+mn-ea"/>
          <a:cs typeface="Arial" panose="020B0604020202020204" pitchFamily="34" charset="0"/>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339" name="Picture 9"/>
          <p:cNvPicPr>
            <a:picLocks noChangeAspect="1"/>
          </p:cNvPicPr>
          <p:nvPr/>
        </p:nvPicPr>
        <p:blipFill>
          <a:blip r:embed="rId3" cstate="print"/>
          <a:srcRect/>
          <a:stretch>
            <a:fillRect/>
          </a:stretch>
        </p:blipFill>
        <p:spPr bwMode="auto">
          <a:xfrm>
            <a:off x="19050" y="76200"/>
            <a:ext cx="9023350" cy="6858000"/>
          </a:xfrm>
          <a:prstGeom prst="rect">
            <a:avLst/>
          </a:prstGeom>
          <a:noFill/>
          <a:ln w="9525">
            <a:noFill/>
            <a:miter lim="800000"/>
            <a:headEnd/>
            <a:tailEnd/>
          </a:ln>
        </p:spPr>
      </p:pic>
      <p:sp>
        <p:nvSpPr>
          <p:cNvPr id="16" name="Rectangle 15"/>
          <p:cNvSpPr/>
          <p:nvPr/>
        </p:nvSpPr>
        <p:spPr>
          <a:xfrm>
            <a:off x="4114800" y="1910587"/>
            <a:ext cx="4724400" cy="1828800"/>
          </a:xfrm>
          <a:prstGeom prst="rect">
            <a:avLst/>
          </a:prstGeom>
          <a:solidFill>
            <a:schemeClr val="tx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 name="TextBox 14"/>
          <p:cNvSpPr txBox="1"/>
          <p:nvPr/>
        </p:nvSpPr>
        <p:spPr>
          <a:xfrm>
            <a:off x="4267200" y="2409491"/>
            <a:ext cx="4572000" cy="830997"/>
          </a:xfrm>
          <a:prstGeom prst="rect">
            <a:avLst/>
          </a:prstGeom>
          <a:noFill/>
        </p:spPr>
        <p:txBody>
          <a:bodyPr wrap="square" anchor="ctr" anchorCtr="0">
            <a:spAutoFit/>
          </a:bodyPr>
          <a:lstStyle/>
          <a:p>
            <a:r>
              <a:rPr lang="en-IN" sz="2400" b="1" dirty="0">
                <a:solidFill>
                  <a:schemeClr val="bg1"/>
                </a:solidFill>
              </a:rPr>
              <a:t>MILITARY MESSAGING SYSTEM (</a:t>
            </a:r>
            <a:r>
              <a:rPr lang="en-IN" sz="2400" b="1" dirty="0">
                <a:solidFill>
                  <a:schemeClr val="bg1"/>
                </a:solidFill>
                <a:latin typeface="Tahoma" panose="020B0604030504040204" pitchFamily="34" charset="0"/>
                <a:ea typeface="Tahoma" panose="020B0604030504040204" pitchFamily="34" charset="0"/>
                <a:cs typeface="Tahoma" panose="020B0604030504040204" pitchFamily="34" charset="0"/>
              </a:rPr>
              <a:t>MMS</a:t>
            </a:r>
            <a:r>
              <a:rPr lang="en-IN" sz="2400" b="1" dirty="0">
                <a:solidFill>
                  <a:schemeClr val="bg1"/>
                </a:solidFill>
              </a:rPr>
              <a:t>)</a:t>
            </a:r>
          </a:p>
        </p:txBody>
      </p:sp>
      <p:pic>
        <p:nvPicPr>
          <p:cNvPr id="14340" name="Picture 10"/>
          <p:cNvPicPr>
            <a:picLocks noChangeAspect="1"/>
          </p:cNvPicPr>
          <p:nvPr/>
        </p:nvPicPr>
        <p:blipFill>
          <a:blip r:embed="rId4" cstate="print"/>
          <a:srcRect/>
          <a:stretch>
            <a:fillRect/>
          </a:stretch>
        </p:blipFill>
        <p:spPr bwMode="auto">
          <a:xfrm>
            <a:off x="2940050" y="569913"/>
            <a:ext cx="3263900" cy="869950"/>
          </a:xfrm>
          <a:prstGeom prst="rect">
            <a:avLst/>
          </a:prstGeom>
          <a:noFill/>
          <a:ln w="9525">
            <a:noFill/>
            <a:miter lim="800000"/>
            <a:headEnd/>
            <a:tailEnd/>
          </a:ln>
        </p:spPr>
      </p:pic>
      <p:sp>
        <p:nvSpPr>
          <p:cNvPr id="2" name="TextBox 1">
            <a:extLst>
              <a:ext uri="{FF2B5EF4-FFF2-40B4-BE49-F238E27FC236}">
                <a16:creationId xmlns:a16="http://schemas.microsoft.com/office/drawing/2014/main" id="{1CE36786-9FB6-7D12-BB36-C61D8DE1DFB4}"/>
              </a:ext>
            </a:extLst>
          </p:cNvPr>
          <p:cNvSpPr txBox="1"/>
          <p:nvPr/>
        </p:nvSpPr>
        <p:spPr>
          <a:xfrm>
            <a:off x="7086600" y="4038600"/>
            <a:ext cx="2819400" cy="646331"/>
          </a:xfrm>
          <a:prstGeom prst="rect">
            <a:avLst/>
          </a:prstGeom>
          <a:noFill/>
        </p:spPr>
        <p:txBody>
          <a:bodyPr wrap="square" rtlCol="0">
            <a:spAutoFit/>
          </a:bodyPr>
          <a:lstStyle/>
          <a:p>
            <a:r>
              <a:rPr lang="en-US" b="1" dirty="0" err="1">
                <a:solidFill>
                  <a:srgbClr val="00B0F0"/>
                </a:solidFill>
                <a:latin typeface="Tahoma" panose="020B0604030504040204" pitchFamily="34" charset="0"/>
                <a:ea typeface="Tahoma" panose="020B0604030504040204" pitchFamily="34" charset="0"/>
                <a:cs typeface="Tahoma" panose="020B0604030504040204" pitchFamily="34" charset="0"/>
              </a:rPr>
              <a:t>Banoth</a:t>
            </a:r>
            <a:r>
              <a:rPr lang="en-US" b="1" dirty="0">
                <a:solidFill>
                  <a:srgbClr val="00B0F0"/>
                </a:solidFill>
                <a:latin typeface="Tahoma" panose="020B0604030504040204" pitchFamily="34" charset="0"/>
                <a:ea typeface="Tahoma" panose="020B0604030504040204" pitchFamily="34" charset="0"/>
                <a:cs typeface="Tahoma" panose="020B0604030504040204" pitchFamily="34" charset="0"/>
              </a:rPr>
              <a:t> Balaji</a:t>
            </a:r>
          </a:p>
          <a:p>
            <a:r>
              <a:rPr lang="en-US" b="1" dirty="0">
                <a:solidFill>
                  <a:srgbClr val="00B0F0"/>
                </a:solidFill>
                <a:latin typeface="Tahoma" panose="020B0604030504040204" pitchFamily="34" charset="0"/>
                <a:ea typeface="Tahoma" panose="020B0604030504040204" pitchFamily="34" charset="0"/>
                <a:cs typeface="Tahoma" panose="020B0604030504040204" pitchFamily="34" charset="0"/>
              </a:rPr>
              <a:t>220448</a:t>
            </a:r>
            <a:endParaRPr lang="en-IN" b="1" dirty="0">
              <a:solidFill>
                <a:srgbClr val="00B0F0"/>
              </a:solidFill>
              <a:latin typeface="Tahoma" panose="020B0604030504040204" pitchFamily="34" charset="0"/>
              <a:ea typeface="Tahoma" panose="020B0604030504040204" pitchFamily="34" charset="0"/>
              <a:cs typeface="Tahoma" panose="020B0604030504040204" pitchFamily="34" charset="0"/>
            </a:endParaRPr>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1"/>
          <p:cNvSpPr>
            <a:spLocks noGrp="1"/>
          </p:cNvSpPr>
          <p:nvPr>
            <p:ph type="title"/>
          </p:nvPr>
        </p:nvSpPr>
        <p:spPr/>
        <p:txBody>
          <a:bodyPr/>
          <a:lstStyle/>
          <a:p>
            <a:r>
              <a:rPr lang="en-US" b="1" dirty="0">
                <a:solidFill>
                  <a:srgbClr val="FF0000"/>
                </a:solidFill>
                <a:latin typeface="Times New Roman" panose="02020603050405020304" pitchFamily="18" charset="0"/>
                <a:ea typeface="Tahoma" pitchFamily="34" charset="0"/>
                <a:cs typeface="Times New Roman" panose="02020603050405020304" pitchFamily="18" charset="0"/>
              </a:rPr>
              <a:t>1. Project Understanding</a:t>
            </a:r>
            <a:endParaRPr lang="en-IN" b="1" dirty="0">
              <a:solidFill>
                <a:srgbClr val="FF0000"/>
              </a:solidFill>
              <a:latin typeface="Times New Roman" panose="02020603050405020304" pitchFamily="18" charset="0"/>
              <a:ea typeface="Tahoma" pitchFamily="34" charset="0"/>
              <a:cs typeface="Times New Roman" panose="02020603050405020304" pitchFamily="18" charset="0"/>
            </a:endParaRPr>
          </a:p>
        </p:txBody>
      </p:sp>
      <p:sp>
        <p:nvSpPr>
          <p:cNvPr id="2" name="TextBox 1">
            <a:extLst>
              <a:ext uri="{FF2B5EF4-FFF2-40B4-BE49-F238E27FC236}">
                <a16:creationId xmlns:a16="http://schemas.microsoft.com/office/drawing/2014/main" id="{ADCCB15D-46FC-8864-F56C-AF8F8273423C}"/>
              </a:ext>
            </a:extLst>
          </p:cNvPr>
          <p:cNvSpPr txBox="1"/>
          <p:nvPr/>
        </p:nvSpPr>
        <p:spPr>
          <a:xfrm>
            <a:off x="533400" y="1524000"/>
            <a:ext cx="1905000" cy="400110"/>
          </a:xfrm>
          <a:prstGeom prst="rect">
            <a:avLst/>
          </a:prstGeom>
          <a:noFill/>
        </p:spPr>
        <p:txBody>
          <a:bodyPr wrap="square" rtlCol="0">
            <a:spAutoFit/>
          </a:bodyPr>
          <a:lstStyle/>
          <a:p>
            <a:r>
              <a:rPr lang="en-US" sz="2000" b="1" dirty="0">
                <a:solidFill>
                  <a:srgbClr val="002060"/>
                </a:solidFill>
                <a:latin typeface="Times New Roman" panose="02020603050405020304" pitchFamily="18" charset="0"/>
                <a:ea typeface="Tahoma" panose="020B0604030504040204" pitchFamily="34" charset="0"/>
                <a:cs typeface="Times New Roman" panose="02020603050405020304" pitchFamily="18" charset="0"/>
              </a:rPr>
              <a:t>Overview</a:t>
            </a:r>
            <a:endParaRPr lang="en-IN" sz="2000" b="1" dirty="0">
              <a:solidFill>
                <a:srgbClr val="002060"/>
              </a:solidFill>
              <a:latin typeface="Times New Roman" panose="02020603050405020304" pitchFamily="18" charset="0"/>
              <a:ea typeface="Tahoma" panose="020B0604030504040204" pitchFamily="34" charset="0"/>
              <a:cs typeface="Times New Roman" panose="02020603050405020304" pitchFamily="18" charset="0"/>
            </a:endParaRPr>
          </a:p>
        </p:txBody>
      </p:sp>
      <p:sp>
        <p:nvSpPr>
          <p:cNvPr id="3" name="TextBox 2">
            <a:extLst>
              <a:ext uri="{FF2B5EF4-FFF2-40B4-BE49-F238E27FC236}">
                <a16:creationId xmlns:a16="http://schemas.microsoft.com/office/drawing/2014/main" id="{93E3E7F2-2807-616A-282D-FFE98A47881A}"/>
              </a:ext>
            </a:extLst>
          </p:cNvPr>
          <p:cNvSpPr txBox="1"/>
          <p:nvPr/>
        </p:nvSpPr>
        <p:spPr>
          <a:xfrm>
            <a:off x="914400" y="2667000"/>
            <a:ext cx="7467600" cy="1477328"/>
          </a:xfrm>
          <a:prstGeom prst="rect">
            <a:avLst/>
          </a:prstGeom>
          <a:noFill/>
        </p:spPr>
        <p:txBody>
          <a:bodyPr wrap="square" rtlCol="0">
            <a:spAutoFit/>
          </a:bodyPr>
          <a:lstStyle/>
          <a:p>
            <a:r>
              <a:rPr lang="en-US"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The Military Messaging System (MMS) is a centralized and secure enterprise-grade communication platform designed to manage official email, tasks, and calendar operations. It ensures strict control over security, workflow tracking, storage quotas, and folder management, making communication reliable and easy to manage across the organization</a:t>
            </a:r>
            <a:endPar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endParaRPr>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5696A4-0864-271B-7F5B-13B9F442F42A}"/>
              </a:ext>
            </a:extLst>
          </p:cNvPr>
          <p:cNvSpPr>
            <a:spLocks noGrp="1"/>
          </p:cNvSpPr>
          <p:nvPr>
            <p:ph type="title"/>
          </p:nvPr>
        </p:nvSpPr>
        <p:spPr/>
        <p:txBody>
          <a:bodyPr/>
          <a:lstStyle/>
          <a:p>
            <a:r>
              <a:rPr lang="en-US" b="1" dirty="0">
                <a:solidFill>
                  <a:srgbClr val="FF0000"/>
                </a:solidFill>
                <a:latin typeface="Times New Roman" panose="02020603050405020304" pitchFamily="18" charset="0"/>
                <a:ea typeface="Tahoma" pitchFamily="34" charset="0"/>
                <a:cs typeface="Times New Roman" panose="02020603050405020304" pitchFamily="18" charset="0"/>
              </a:rPr>
              <a:t>Project Understanding contd..</a:t>
            </a:r>
            <a:endParaRPr lang="en-IN" dirty="0">
              <a:solidFill>
                <a:srgbClr val="FF0000"/>
              </a:solidFill>
              <a:latin typeface="Times New Roman" panose="02020603050405020304" pitchFamily="18" charset="0"/>
              <a:cs typeface="Times New Roman" panose="02020603050405020304" pitchFamily="18" charset="0"/>
            </a:endParaRPr>
          </a:p>
        </p:txBody>
      </p:sp>
      <p:sp>
        <p:nvSpPr>
          <p:cNvPr id="3" name="Text Placeholder 2">
            <a:extLst>
              <a:ext uri="{FF2B5EF4-FFF2-40B4-BE49-F238E27FC236}">
                <a16:creationId xmlns:a16="http://schemas.microsoft.com/office/drawing/2014/main" id="{82B90477-BBE0-23DB-B547-D669430980C4}"/>
              </a:ext>
            </a:extLst>
          </p:cNvPr>
          <p:cNvSpPr>
            <a:spLocks noGrp="1"/>
          </p:cNvSpPr>
          <p:nvPr>
            <p:ph type="body" sz="quarter" idx="10"/>
          </p:nvPr>
        </p:nvSpPr>
        <p:spPr>
          <a:xfrm>
            <a:off x="335026" y="1295400"/>
            <a:ext cx="7016750" cy="436562"/>
          </a:xfrm>
        </p:spPr>
        <p:txBody>
          <a:bodyPr/>
          <a:lstStyle/>
          <a:p>
            <a:r>
              <a:rPr lang="en-US" sz="2000" b="1" dirty="0">
                <a:solidFill>
                  <a:srgbClr val="002060"/>
                </a:solidFill>
                <a:latin typeface="Times New Roman" panose="02020603050405020304" pitchFamily="18" charset="0"/>
                <a:ea typeface="Tahoma" panose="020B0604030504040204" pitchFamily="34" charset="0"/>
                <a:cs typeface="Times New Roman" panose="02020603050405020304" pitchFamily="18" charset="0"/>
              </a:rPr>
              <a:t>Key Objectives of the Project </a:t>
            </a:r>
            <a:endParaRPr lang="en-IN" sz="2000" dirty="0">
              <a:solidFill>
                <a:srgbClr val="002060"/>
              </a:solidFill>
              <a:latin typeface="Times New Roman" panose="02020603050405020304" pitchFamily="18" charset="0"/>
              <a:ea typeface="Tahoma" panose="020B0604030504040204" pitchFamily="34" charset="0"/>
              <a:cs typeface="Times New Roman" panose="02020603050405020304" pitchFamily="18" charset="0"/>
            </a:endParaRPr>
          </a:p>
        </p:txBody>
      </p:sp>
      <p:sp>
        <p:nvSpPr>
          <p:cNvPr id="4" name="TextBox 3">
            <a:extLst>
              <a:ext uri="{FF2B5EF4-FFF2-40B4-BE49-F238E27FC236}">
                <a16:creationId xmlns:a16="http://schemas.microsoft.com/office/drawing/2014/main" id="{446405BB-E58E-E7B7-CE0A-E43795FC560C}"/>
              </a:ext>
            </a:extLst>
          </p:cNvPr>
          <p:cNvSpPr txBox="1"/>
          <p:nvPr/>
        </p:nvSpPr>
        <p:spPr>
          <a:xfrm>
            <a:off x="493776" y="1905000"/>
            <a:ext cx="7848600" cy="4524315"/>
          </a:xfrm>
          <a:prstGeom prst="rect">
            <a:avLst/>
          </a:prstGeom>
          <a:noFill/>
        </p:spPr>
        <p:txBody>
          <a:bodyPr wrap="square" rtlCol="0">
            <a:spAutoFit/>
          </a:bodyPr>
          <a:lstStyle/>
          <a:p>
            <a:pPr marL="285750" indent="-285750">
              <a:buFont typeface="Wingdings" panose="05000000000000000000" pitchFamily="2" charset="2"/>
              <a:buChar char="q"/>
            </a:pPr>
            <a:r>
              <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Secure email communication using Postfix , Dovecot configurations and IMAP and LDAP authentication</a:t>
            </a:r>
          </a:p>
          <a:p>
            <a:pPr marL="285750" indent="-285750">
              <a:buFont typeface="Wingdings" panose="05000000000000000000" pitchFamily="2" charset="2"/>
              <a:buChar char="q"/>
            </a:pPr>
            <a:endPar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endParaRPr>
          </a:p>
          <a:p>
            <a:pPr marL="285750" indent="-285750">
              <a:buFont typeface="Wingdings" panose="05000000000000000000" pitchFamily="2" charset="2"/>
              <a:buChar char="q"/>
            </a:pPr>
            <a:r>
              <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 Efficient mailbox management (Inbox, Drafts, Sent, Trash, Archive, Custom Folders) </a:t>
            </a:r>
          </a:p>
          <a:p>
            <a:pPr marL="285750" indent="-285750">
              <a:buFont typeface="Wingdings" panose="05000000000000000000" pitchFamily="2" charset="2"/>
              <a:buChar char="q"/>
            </a:pPr>
            <a:endPar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endParaRPr>
          </a:p>
          <a:p>
            <a:pPr marL="285750" indent="-285750">
              <a:buFont typeface="Wingdings" panose="05000000000000000000" pitchFamily="2" charset="2"/>
              <a:buChar char="q"/>
            </a:pPr>
            <a:r>
              <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Accurate mailbox quota calculation and enforcement </a:t>
            </a:r>
          </a:p>
          <a:p>
            <a:pPr marL="285750" indent="-285750">
              <a:buFont typeface="Wingdings" panose="05000000000000000000" pitchFamily="2" charset="2"/>
              <a:buChar char="q"/>
            </a:pPr>
            <a:endPar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endParaRPr>
          </a:p>
          <a:p>
            <a:pPr marL="285750" indent="-285750">
              <a:buFont typeface="Wingdings" panose="05000000000000000000" pitchFamily="2" charset="2"/>
              <a:buChar char="q"/>
            </a:pPr>
            <a:r>
              <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End-to-end email workflow tracking</a:t>
            </a:r>
          </a:p>
          <a:p>
            <a:endPar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endParaRPr>
          </a:p>
          <a:p>
            <a:pPr marL="285750" indent="-285750">
              <a:buFont typeface="Wingdings" panose="05000000000000000000" pitchFamily="2" charset="2"/>
              <a:buChar char="q"/>
            </a:pPr>
            <a:r>
              <a:rPr lang="en-US"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Drafter -&gt; Reviewer -&gt; Approver -&gt; Designated Sender -&gt; Designated Receiver -&gt; Actual Recipients</a:t>
            </a:r>
          </a:p>
          <a:p>
            <a:endPar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endParaRPr>
          </a:p>
          <a:p>
            <a:pPr marL="285750" indent="-285750">
              <a:buFont typeface="Wingdings" panose="05000000000000000000" pitchFamily="2" charset="2"/>
              <a:buChar char="q"/>
            </a:pPr>
            <a:r>
              <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Long-term archival of emails into a database </a:t>
            </a:r>
          </a:p>
          <a:p>
            <a:pPr marL="285750" indent="-285750">
              <a:buFont typeface="Wingdings" panose="05000000000000000000" pitchFamily="2" charset="2"/>
              <a:buChar char="q"/>
            </a:pPr>
            <a:endPar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endParaRPr>
          </a:p>
          <a:p>
            <a:pPr marL="285750" indent="-285750">
              <a:buFont typeface="Wingdings" panose="05000000000000000000" pitchFamily="2" charset="2"/>
              <a:buChar char="q"/>
            </a:pPr>
            <a:r>
              <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Integrated user task and calendar management </a:t>
            </a:r>
          </a:p>
        </p:txBody>
      </p:sp>
    </p:spTree>
    <p:extLst>
      <p:ext uri="{BB962C8B-B14F-4D97-AF65-F5344CB8AC3E}">
        <p14:creationId xmlns:p14="http://schemas.microsoft.com/office/powerpoint/2010/main" val="3763706006"/>
      </p:ext>
    </p:extLst>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solidFill>
                  <a:srgbClr val="FF0000"/>
                </a:solidFill>
                <a:latin typeface="Times New Roman" panose="02020603050405020304" pitchFamily="18" charset="0"/>
                <a:ea typeface="Tahoma" panose="020B0604030504040204" pitchFamily="34" charset="0"/>
                <a:cs typeface="Times New Roman" panose="02020603050405020304" pitchFamily="18" charset="0"/>
              </a:rPr>
              <a:t>Project Understanding contd..</a:t>
            </a:r>
            <a:endParaRPr lang="en-IN" b="1" dirty="0">
              <a:solidFill>
                <a:srgbClr val="FF0000"/>
              </a:solidFill>
              <a:latin typeface="Times New Roman" panose="02020603050405020304" pitchFamily="18" charset="0"/>
              <a:ea typeface="Tahoma" panose="020B0604030504040204" pitchFamily="34" charset="0"/>
              <a:cs typeface="Times New Roman" panose="02020603050405020304" pitchFamily="18" charset="0"/>
            </a:endParaRPr>
          </a:p>
        </p:txBody>
      </p:sp>
      <p:sp>
        <p:nvSpPr>
          <p:cNvPr id="3" name="Text Placeholder 2">
            <a:extLst>
              <a:ext uri="{FF2B5EF4-FFF2-40B4-BE49-F238E27FC236}">
                <a16:creationId xmlns:a16="http://schemas.microsoft.com/office/drawing/2014/main" id="{C6572BC0-8270-A973-61A5-B80032851235}"/>
              </a:ext>
            </a:extLst>
          </p:cNvPr>
          <p:cNvSpPr>
            <a:spLocks noGrp="1"/>
          </p:cNvSpPr>
          <p:nvPr>
            <p:ph type="body" sz="quarter" idx="13"/>
          </p:nvPr>
        </p:nvSpPr>
        <p:spPr>
          <a:xfrm>
            <a:off x="304800" y="1070553"/>
            <a:ext cx="6934200" cy="457200"/>
          </a:xfrm>
        </p:spPr>
        <p:txBody>
          <a:bodyPr/>
          <a:lstStyle/>
          <a:p>
            <a:r>
              <a:rPr lang="en-IN" sz="2000" b="1" dirty="0">
                <a:solidFill>
                  <a:srgbClr val="002060"/>
                </a:solidFill>
                <a:latin typeface="Times New Roman" panose="02020603050405020304" pitchFamily="18" charset="0"/>
                <a:ea typeface="Tahoma" panose="020B0604030504040204" pitchFamily="34" charset="0"/>
                <a:cs typeface="Times New Roman" panose="02020603050405020304" pitchFamily="18" charset="0"/>
              </a:rPr>
              <a:t>System Flow (High Level) </a:t>
            </a:r>
            <a:endParaRPr lang="en-IN" sz="2000" dirty="0">
              <a:solidFill>
                <a:srgbClr val="002060"/>
              </a:solidFill>
              <a:latin typeface="Times New Roman" panose="02020603050405020304" pitchFamily="18" charset="0"/>
              <a:ea typeface="Tahoma" panose="020B0604030504040204" pitchFamily="34" charset="0"/>
              <a:cs typeface="Times New Roman" panose="02020603050405020304" pitchFamily="18" charset="0"/>
            </a:endParaRPr>
          </a:p>
        </p:txBody>
      </p:sp>
      <p:sp>
        <p:nvSpPr>
          <p:cNvPr id="7" name="TextBox 6">
            <a:extLst>
              <a:ext uri="{FF2B5EF4-FFF2-40B4-BE49-F238E27FC236}">
                <a16:creationId xmlns:a16="http://schemas.microsoft.com/office/drawing/2014/main" id="{C9AA6155-E739-E9A6-41C7-42F1134ACBFE}"/>
              </a:ext>
            </a:extLst>
          </p:cNvPr>
          <p:cNvSpPr txBox="1"/>
          <p:nvPr/>
        </p:nvSpPr>
        <p:spPr>
          <a:xfrm>
            <a:off x="685800" y="1607706"/>
            <a:ext cx="6172200" cy="3693319"/>
          </a:xfrm>
          <a:prstGeom prst="rect">
            <a:avLst/>
          </a:prstGeom>
          <a:noFill/>
        </p:spPr>
        <p:txBody>
          <a:bodyPr wrap="square" rtlCol="0">
            <a:spAutoFit/>
          </a:bodyPr>
          <a:lstStyle/>
          <a:p>
            <a:pPr marL="285750" indent="-285750">
              <a:buFont typeface="Wingdings" panose="05000000000000000000" pitchFamily="2" charset="2"/>
              <a:buChar char="q"/>
            </a:pPr>
            <a:r>
              <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User Authentication via LDAP</a:t>
            </a:r>
          </a:p>
          <a:p>
            <a:pPr marL="285750" indent="-285750">
              <a:buFont typeface="Wingdings" panose="05000000000000000000" pitchFamily="2" charset="2"/>
              <a:buChar char="q"/>
            </a:pPr>
            <a:endPar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endParaRPr>
          </a:p>
          <a:p>
            <a:pPr marL="285750" indent="-285750">
              <a:buFont typeface="Wingdings" panose="05000000000000000000" pitchFamily="2" charset="2"/>
              <a:buChar char="q"/>
            </a:pPr>
            <a:r>
              <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Email Composition and Request Handling</a:t>
            </a:r>
          </a:p>
          <a:p>
            <a:endPar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endParaRPr>
          </a:p>
          <a:p>
            <a:pPr marL="285750" indent="-285750">
              <a:buFont typeface="Wingdings" panose="05000000000000000000" pitchFamily="2" charset="2"/>
              <a:buChar char="q"/>
            </a:pPr>
            <a:r>
              <a:rPr lang="en-US"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Postfix (SMTP) handles email transmission and routing, followed by Dovecot for mailbox delivery</a:t>
            </a:r>
          </a:p>
          <a:p>
            <a:endParaRPr lang="en-US" dirty="0">
              <a:solidFill>
                <a:srgbClr val="0070C0"/>
              </a:solidFill>
              <a:latin typeface="Times New Roman" panose="02020603050405020304" pitchFamily="18" charset="0"/>
              <a:ea typeface="Tahoma" panose="020B0604030504040204" pitchFamily="34" charset="0"/>
              <a:cs typeface="Times New Roman" panose="02020603050405020304" pitchFamily="18" charset="0"/>
            </a:endParaRPr>
          </a:p>
          <a:p>
            <a:pPr marL="285750" indent="-285750">
              <a:buFont typeface="Wingdings" panose="05000000000000000000" pitchFamily="2" charset="2"/>
              <a:buChar char="q"/>
            </a:pPr>
            <a:r>
              <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Email operations via IMAP (Fetch, Save, Move, Delete)</a:t>
            </a:r>
          </a:p>
          <a:p>
            <a:pPr marL="285750" indent="-285750">
              <a:buFont typeface="Wingdings" panose="05000000000000000000" pitchFamily="2" charset="2"/>
              <a:buChar char="q"/>
            </a:pPr>
            <a:endPar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endParaRPr>
          </a:p>
          <a:p>
            <a:pPr marL="285750" indent="-285750">
              <a:buFont typeface="Wingdings" panose="05000000000000000000" pitchFamily="2" charset="2"/>
              <a:buChar char="q"/>
            </a:pPr>
            <a:r>
              <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Quota calculations using Dovecot configuration, IMAP Quota APIs</a:t>
            </a:r>
          </a:p>
          <a:p>
            <a:endPar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endParaRPr>
          </a:p>
          <a:p>
            <a:pPr marL="285750" indent="-285750">
              <a:buFont typeface="Wingdings" panose="05000000000000000000" pitchFamily="2" charset="2"/>
              <a:buChar char="q"/>
            </a:pPr>
            <a:r>
              <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Archival to database for long-term storage </a:t>
            </a:r>
          </a:p>
        </p:txBody>
      </p:sp>
    </p:spTree>
    <p:extLst>
      <p:ext uri="{BB962C8B-B14F-4D97-AF65-F5344CB8AC3E}">
        <p14:creationId xmlns:p14="http://schemas.microsoft.com/office/powerpoint/2010/main" val="557960259"/>
      </p:ext>
    </p:extLst>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200" y="152400"/>
            <a:ext cx="6858000" cy="639762"/>
          </a:xfrm>
        </p:spPr>
        <p:txBody>
          <a:bodyPr/>
          <a:lstStyle/>
          <a:p>
            <a:r>
              <a:rPr lang="en-US" b="1" dirty="0">
                <a:solidFill>
                  <a:srgbClr val="FF0000"/>
                </a:solidFill>
                <a:latin typeface="Times New Roman" panose="02020603050405020304" pitchFamily="18" charset="0"/>
                <a:ea typeface="Tahoma" panose="020B0604030504040204" pitchFamily="34" charset="0"/>
                <a:cs typeface="Times New Roman" panose="02020603050405020304" pitchFamily="18" charset="0"/>
              </a:rPr>
              <a:t>2. What I Have Learnt?</a:t>
            </a:r>
            <a:endParaRPr lang="en-IN" b="1" dirty="0">
              <a:solidFill>
                <a:srgbClr val="FF0000"/>
              </a:solidFill>
              <a:latin typeface="Times New Roman" panose="02020603050405020304" pitchFamily="18" charset="0"/>
              <a:ea typeface="Tahoma" panose="020B0604030504040204" pitchFamily="34" charset="0"/>
              <a:cs typeface="Times New Roman" panose="02020603050405020304" pitchFamily="18" charset="0"/>
            </a:endParaRPr>
          </a:p>
        </p:txBody>
      </p:sp>
      <p:sp>
        <p:nvSpPr>
          <p:cNvPr id="3" name="TextBox 2">
            <a:extLst>
              <a:ext uri="{FF2B5EF4-FFF2-40B4-BE49-F238E27FC236}">
                <a16:creationId xmlns:a16="http://schemas.microsoft.com/office/drawing/2014/main" id="{970470B1-AEC6-C7A0-B35C-C92870AC0BC1}"/>
              </a:ext>
            </a:extLst>
          </p:cNvPr>
          <p:cNvSpPr txBox="1"/>
          <p:nvPr/>
        </p:nvSpPr>
        <p:spPr>
          <a:xfrm>
            <a:off x="304800" y="1143000"/>
            <a:ext cx="3200400" cy="400110"/>
          </a:xfrm>
          <a:prstGeom prst="rect">
            <a:avLst/>
          </a:prstGeom>
          <a:noFill/>
        </p:spPr>
        <p:txBody>
          <a:bodyPr wrap="square" rtlCol="0">
            <a:spAutoFit/>
          </a:bodyPr>
          <a:lstStyle/>
          <a:p>
            <a:r>
              <a:rPr lang="en-IN" sz="2000" b="1" dirty="0">
                <a:solidFill>
                  <a:srgbClr val="002060"/>
                </a:solidFill>
                <a:latin typeface="Times New Roman" panose="02020603050405020304" pitchFamily="18" charset="0"/>
                <a:ea typeface="Tahoma" panose="020B0604030504040204" pitchFamily="34" charset="0"/>
                <a:cs typeface="Times New Roman" panose="02020603050405020304" pitchFamily="18" charset="0"/>
              </a:rPr>
              <a:t>Technical Learning</a:t>
            </a:r>
          </a:p>
        </p:txBody>
      </p:sp>
      <p:sp>
        <p:nvSpPr>
          <p:cNvPr id="4" name="TextBox 3">
            <a:extLst>
              <a:ext uri="{FF2B5EF4-FFF2-40B4-BE49-F238E27FC236}">
                <a16:creationId xmlns:a16="http://schemas.microsoft.com/office/drawing/2014/main" id="{520881A4-988C-07A6-B7C8-96168065954B}"/>
              </a:ext>
            </a:extLst>
          </p:cNvPr>
          <p:cNvSpPr txBox="1"/>
          <p:nvPr/>
        </p:nvSpPr>
        <p:spPr>
          <a:xfrm>
            <a:off x="609600" y="1668482"/>
            <a:ext cx="7696200" cy="3693319"/>
          </a:xfrm>
          <a:prstGeom prst="rect">
            <a:avLst/>
          </a:prstGeom>
          <a:noFill/>
        </p:spPr>
        <p:txBody>
          <a:bodyPr wrap="square" rtlCol="0">
            <a:spAutoFit/>
          </a:bodyPr>
          <a:lstStyle/>
          <a:p>
            <a:pPr marL="285750" indent="-285750">
              <a:buFont typeface="Wingdings" panose="05000000000000000000" pitchFamily="2" charset="2"/>
              <a:buChar char="q"/>
            </a:pPr>
            <a:r>
              <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Hands-on experience with Postfix and Dovecot mail server configuration</a:t>
            </a:r>
          </a:p>
          <a:p>
            <a:pPr marL="285750" indent="-285750">
              <a:buFont typeface="Wingdings" panose="05000000000000000000" pitchFamily="2" charset="2"/>
              <a:buChar char="q"/>
            </a:pPr>
            <a:endPar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endParaRPr>
          </a:p>
          <a:p>
            <a:pPr marL="285750" indent="-285750">
              <a:buFont typeface="Wingdings" panose="05000000000000000000" pitchFamily="2" charset="2"/>
              <a:buChar char="q"/>
            </a:pPr>
            <a:r>
              <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Deep understanding of IMAP-based mail operations (READ_WRITE mode, flags, expunge) </a:t>
            </a:r>
          </a:p>
          <a:p>
            <a:endPar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endParaRPr>
          </a:p>
          <a:p>
            <a:pPr marL="285750" indent="-285750">
              <a:buFont typeface="Wingdings" panose="05000000000000000000" pitchFamily="2" charset="2"/>
              <a:buChar char="q"/>
            </a:pPr>
            <a:r>
              <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 Mailbox quota handling using real-time IMAP quota APIs </a:t>
            </a:r>
          </a:p>
          <a:p>
            <a:endPar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endParaRPr>
          </a:p>
          <a:p>
            <a:pPr marL="285750" indent="-285750">
              <a:buFont typeface="Wingdings" panose="05000000000000000000" pitchFamily="2" charset="2"/>
              <a:buChar char="q"/>
            </a:pPr>
            <a:r>
              <a:rPr lang="en-US"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MIME message creation with full email structure (From, To, CC, BCC, subject, body, headers, and attachments).</a:t>
            </a:r>
          </a:p>
          <a:p>
            <a:r>
              <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 </a:t>
            </a:r>
          </a:p>
          <a:p>
            <a:pPr marL="285750" indent="-285750">
              <a:buFont typeface="Wingdings" panose="05000000000000000000" pitchFamily="2" charset="2"/>
              <a:buChar char="q"/>
            </a:pPr>
            <a:r>
              <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Folder lifecycle management (system vs custom folders)</a:t>
            </a:r>
          </a:p>
          <a:p>
            <a:r>
              <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 </a:t>
            </a:r>
          </a:p>
          <a:p>
            <a:pPr marL="285750" indent="-285750">
              <a:buFont typeface="Wingdings" panose="05000000000000000000" pitchFamily="2" charset="2"/>
              <a:buChar char="q"/>
            </a:pPr>
            <a:r>
              <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Email archival strategies (</a:t>
            </a:r>
            <a:r>
              <a:rPr lang="en-IN" dirty="0" err="1">
                <a:solidFill>
                  <a:srgbClr val="0070C0"/>
                </a:solidFill>
                <a:latin typeface="Times New Roman" panose="02020603050405020304" pitchFamily="18" charset="0"/>
                <a:ea typeface="Tahoma" panose="020B0604030504040204" pitchFamily="34" charset="0"/>
                <a:cs typeface="Times New Roman" panose="02020603050405020304" pitchFamily="18" charset="0"/>
              </a:rPr>
              <a:t>Maildir</a:t>
            </a:r>
            <a:r>
              <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 → Database → Restore)</a:t>
            </a:r>
          </a:p>
        </p:txBody>
      </p:sp>
    </p:spTree>
    <p:extLst>
      <p:ext uri="{BB962C8B-B14F-4D97-AF65-F5344CB8AC3E}">
        <p14:creationId xmlns:p14="http://schemas.microsoft.com/office/powerpoint/2010/main" val="3153514327"/>
      </p:ext>
    </p:extLst>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 y="350838"/>
            <a:ext cx="6858000" cy="639762"/>
          </a:xfrm>
        </p:spPr>
        <p:txBody>
          <a:bodyPr/>
          <a:lstStyle/>
          <a:p>
            <a:r>
              <a:rPr lang="en-US" b="1" dirty="0">
                <a:solidFill>
                  <a:srgbClr val="FF0000"/>
                </a:solidFill>
                <a:latin typeface="Times New Roman" panose="02020603050405020304" pitchFamily="18" charset="0"/>
                <a:ea typeface="Tahoma" panose="020B0604030504040204" pitchFamily="34" charset="0"/>
                <a:cs typeface="Times New Roman" panose="02020603050405020304" pitchFamily="18" charset="0"/>
              </a:rPr>
              <a:t>What I Have Learnt? Contd..</a:t>
            </a:r>
            <a:endParaRPr lang="en-IN" dirty="0">
              <a:solidFill>
                <a:srgbClr val="FF0000"/>
              </a:solidFill>
              <a:latin typeface="Times New Roman" panose="02020603050405020304" pitchFamily="18" charset="0"/>
              <a:ea typeface="Tahoma" panose="020B0604030504040204" pitchFamily="34" charset="0"/>
              <a:cs typeface="Times New Roman" panose="02020603050405020304" pitchFamily="18" charset="0"/>
            </a:endParaRPr>
          </a:p>
        </p:txBody>
      </p:sp>
      <p:sp>
        <p:nvSpPr>
          <p:cNvPr id="3" name="TextBox 2">
            <a:extLst>
              <a:ext uri="{FF2B5EF4-FFF2-40B4-BE49-F238E27FC236}">
                <a16:creationId xmlns:a16="http://schemas.microsoft.com/office/drawing/2014/main" id="{566112F4-9972-1F63-C7DE-7E5354EFC06D}"/>
              </a:ext>
            </a:extLst>
          </p:cNvPr>
          <p:cNvSpPr txBox="1"/>
          <p:nvPr/>
        </p:nvSpPr>
        <p:spPr>
          <a:xfrm>
            <a:off x="161544" y="1219200"/>
            <a:ext cx="4943856" cy="400110"/>
          </a:xfrm>
          <a:prstGeom prst="rect">
            <a:avLst/>
          </a:prstGeom>
          <a:noFill/>
        </p:spPr>
        <p:txBody>
          <a:bodyPr wrap="square" rtlCol="0">
            <a:spAutoFit/>
          </a:bodyPr>
          <a:lstStyle/>
          <a:p>
            <a:r>
              <a:rPr lang="en-IN" sz="2000" b="1" dirty="0">
                <a:solidFill>
                  <a:srgbClr val="002060"/>
                </a:solidFill>
                <a:latin typeface="Times New Roman" panose="02020603050405020304" pitchFamily="18" charset="0"/>
                <a:ea typeface="Tahoma" panose="020B0604030504040204" pitchFamily="34" charset="0"/>
                <a:cs typeface="Times New Roman" panose="02020603050405020304" pitchFamily="18" charset="0"/>
              </a:rPr>
              <a:t>Architectural &amp; Process Learning</a:t>
            </a:r>
            <a:endParaRPr lang="en-IN" sz="2000" dirty="0">
              <a:solidFill>
                <a:srgbClr val="002060"/>
              </a:solidFill>
              <a:latin typeface="Times New Roman" panose="02020603050405020304" pitchFamily="18" charset="0"/>
              <a:ea typeface="Tahoma" panose="020B0604030504040204" pitchFamily="34" charset="0"/>
              <a:cs typeface="Times New Roman" panose="02020603050405020304" pitchFamily="18" charset="0"/>
            </a:endParaRPr>
          </a:p>
        </p:txBody>
      </p:sp>
      <p:sp>
        <p:nvSpPr>
          <p:cNvPr id="5" name="TextBox 4">
            <a:extLst>
              <a:ext uri="{FF2B5EF4-FFF2-40B4-BE49-F238E27FC236}">
                <a16:creationId xmlns:a16="http://schemas.microsoft.com/office/drawing/2014/main" id="{DE4E7C01-EFEF-8317-C81A-1621EC789FC1}"/>
              </a:ext>
            </a:extLst>
          </p:cNvPr>
          <p:cNvSpPr txBox="1"/>
          <p:nvPr/>
        </p:nvSpPr>
        <p:spPr>
          <a:xfrm>
            <a:off x="381000" y="1676400"/>
            <a:ext cx="7696200" cy="3970318"/>
          </a:xfrm>
          <a:prstGeom prst="rect">
            <a:avLst/>
          </a:prstGeom>
          <a:noFill/>
        </p:spPr>
        <p:txBody>
          <a:bodyPr wrap="square" rtlCol="0">
            <a:spAutoFit/>
          </a:bodyPr>
          <a:lstStyle/>
          <a:p>
            <a:pPr marL="285750" indent="-285750">
              <a:buFont typeface="Wingdings" panose="05000000000000000000" pitchFamily="2" charset="2"/>
              <a:buChar char="q"/>
            </a:pPr>
            <a:r>
              <a:rPr lang="en-US"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Understood mailbox architecture including Inbox, Sent, Drafts, Trash, Archive, and custom folders.</a:t>
            </a:r>
          </a:p>
          <a:p>
            <a:pPr marL="285750" indent="-285750">
              <a:buFont typeface="Wingdings" panose="05000000000000000000" pitchFamily="2" charset="2"/>
              <a:buChar char="q"/>
            </a:pPr>
            <a:endParaRPr lang="en-US" dirty="0">
              <a:solidFill>
                <a:srgbClr val="0070C0"/>
              </a:solidFill>
              <a:latin typeface="Times New Roman" panose="02020603050405020304" pitchFamily="18" charset="0"/>
              <a:ea typeface="Tahoma" panose="020B0604030504040204" pitchFamily="34" charset="0"/>
              <a:cs typeface="Times New Roman" panose="02020603050405020304" pitchFamily="18" charset="0"/>
            </a:endParaRPr>
          </a:p>
          <a:p>
            <a:pPr marL="285750" indent="-285750">
              <a:buFont typeface="Wingdings" panose="05000000000000000000" pitchFamily="2" charset="2"/>
              <a:buChar char="q"/>
            </a:pPr>
            <a:r>
              <a:rPr lang="en-US"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Designed modular service workflows to handle core email operations such as compose, save draft , fetch, save, move to folder, delete, and archive.</a:t>
            </a:r>
          </a:p>
          <a:p>
            <a:pPr marL="285750" indent="-285750">
              <a:buFont typeface="Wingdings" panose="05000000000000000000" pitchFamily="2" charset="2"/>
              <a:buChar char="q"/>
            </a:pPr>
            <a:endParaRPr lang="en-US" dirty="0">
              <a:solidFill>
                <a:srgbClr val="0070C0"/>
              </a:solidFill>
              <a:latin typeface="Times New Roman" panose="02020603050405020304" pitchFamily="18" charset="0"/>
              <a:ea typeface="Tahoma" panose="020B0604030504040204" pitchFamily="34" charset="0"/>
              <a:cs typeface="Times New Roman" panose="02020603050405020304" pitchFamily="18" charset="0"/>
            </a:endParaRPr>
          </a:p>
          <a:p>
            <a:pPr marL="285750" indent="-285750">
              <a:buFont typeface="Wingdings" panose="05000000000000000000" pitchFamily="2" charset="2"/>
              <a:buChar char="q"/>
            </a:pPr>
            <a:r>
              <a:rPr lang="en-US"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Managed edge cases like missing folders, and quota limits. </a:t>
            </a:r>
          </a:p>
          <a:p>
            <a:endParaRPr lang="en-US" dirty="0">
              <a:solidFill>
                <a:srgbClr val="0070C0"/>
              </a:solidFill>
              <a:latin typeface="Times New Roman" panose="02020603050405020304" pitchFamily="18" charset="0"/>
              <a:ea typeface="Tahoma" panose="020B0604030504040204" pitchFamily="34" charset="0"/>
              <a:cs typeface="Times New Roman" panose="02020603050405020304" pitchFamily="18" charset="0"/>
            </a:endParaRPr>
          </a:p>
          <a:p>
            <a:pPr marL="285750" indent="-285750">
              <a:buFont typeface="Wingdings" panose="05000000000000000000" pitchFamily="2" charset="2"/>
              <a:buChar char="q"/>
            </a:pPr>
            <a:r>
              <a:rPr lang="en-US"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Ensured consistency between mailbox (</a:t>
            </a:r>
            <a:r>
              <a:rPr lang="en-US" dirty="0" err="1">
                <a:solidFill>
                  <a:srgbClr val="0070C0"/>
                </a:solidFill>
                <a:latin typeface="Times New Roman" panose="02020603050405020304" pitchFamily="18" charset="0"/>
                <a:ea typeface="Tahoma" panose="020B0604030504040204" pitchFamily="34" charset="0"/>
                <a:cs typeface="Times New Roman" panose="02020603050405020304" pitchFamily="18" charset="0"/>
              </a:rPr>
              <a:t>Maildir</a:t>
            </a:r>
            <a:r>
              <a:rPr lang="en-US"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 and database during archival. </a:t>
            </a:r>
          </a:p>
          <a:p>
            <a:pPr marL="285750" indent="-285750">
              <a:buFont typeface="Wingdings" panose="05000000000000000000" pitchFamily="2" charset="2"/>
              <a:buChar char="q"/>
            </a:pPr>
            <a:endParaRPr lang="en-US" dirty="0">
              <a:solidFill>
                <a:srgbClr val="0070C0"/>
              </a:solidFill>
              <a:latin typeface="Times New Roman" panose="02020603050405020304" pitchFamily="18" charset="0"/>
              <a:ea typeface="Tahoma" panose="020B0604030504040204" pitchFamily="34" charset="0"/>
              <a:cs typeface="Times New Roman" panose="02020603050405020304" pitchFamily="18" charset="0"/>
            </a:endParaRPr>
          </a:p>
          <a:p>
            <a:pPr marL="285750" indent="-285750">
              <a:buFont typeface="Wingdings" panose="05000000000000000000" pitchFamily="2" charset="2"/>
              <a:buChar char="q"/>
            </a:pPr>
            <a:r>
              <a:rPr lang="en-US"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Built clean JSON responses for smooth UI integration.</a:t>
            </a:r>
          </a:p>
          <a:p>
            <a:pPr marL="285750" indent="-285750">
              <a:buFont typeface="Wingdings" panose="05000000000000000000" pitchFamily="2" charset="2"/>
              <a:buChar char="q"/>
            </a:pPr>
            <a:endParaRPr lang="en-US" dirty="0">
              <a:solidFill>
                <a:srgbClr val="0070C0"/>
              </a:solidFill>
              <a:latin typeface="Times New Roman" panose="02020603050405020304" pitchFamily="18" charset="0"/>
              <a:ea typeface="Tahoma" panose="020B0604030504040204" pitchFamily="34" charset="0"/>
              <a:cs typeface="Times New Roman" panose="02020603050405020304" pitchFamily="18" charset="0"/>
            </a:endParaRPr>
          </a:p>
          <a:p>
            <a:pPr marL="285750" indent="-285750">
              <a:buFont typeface="Wingdings" panose="05000000000000000000" pitchFamily="2" charset="2"/>
              <a:buChar char="q"/>
            </a:pPr>
            <a:r>
              <a:rPr lang="en-US"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 Implemented end-to-end email workflow tracking using Message-ID.</a:t>
            </a:r>
            <a:endPar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endParaRPr>
          </a:p>
          <a:p>
            <a:endPar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884552760"/>
      </p:ext>
    </p:extLst>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200" y="228600"/>
            <a:ext cx="6858000" cy="639762"/>
          </a:xfrm>
        </p:spPr>
        <p:txBody>
          <a:bodyPr/>
          <a:lstStyle/>
          <a:p>
            <a:r>
              <a:rPr lang="en-IN" b="1" dirty="0">
                <a:solidFill>
                  <a:srgbClr val="FF0000"/>
                </a:solidFill>
                <a:latin typeface="Times New Roman" panose="02020603050405020304" pitchFamily="18" charset="0"/>
                <a:ea typeface="Tahoma" panose="020B0604030504040204" pitchFamily="34" charset="0"/>
                <a:cs typeface="Times New Roman" panose="02020603050405020304" pitchFamily="18" charset="0"/>
              </a:rPr>
              <a:t>3. Key Contribution</a:t>
            </a:r>
          </a:p>
        </p:txBody>
      </p:sp>
      <p:sp>
        <p:nvSpPr>
          <p:cNvPr id="5" name="TextBox 4">
            <a:extLst>
              <a:ext uri="{FF2B5EF4-FFF2-40B4-BE49-F238E27FC236}">
                <a16:creationId xmlns:a16="http://schemas.microsoft.com/office/drawing/2014/main" id="{83179226-AD40-4BCE-CC9A-2EAEBCAB2FB1}"/>
              </a:ext>
            </a:extLst>
          </p:cNvPr>
          <p:cNvSpPr txBox="1"/>
          <p:nvPr/>
        </p:nvSpPr>
        <p:spPr>
          <a:xfrm>
            <a:off x="106680" y="1143000"/>
            <a:ext cx="5105400" cy="400110"/>
          </a:xfrm>
          <a:prstGeom prst="rect">
            <a:avLst/>
          </a:prstGeom>
          <a:noFill/>
        </p:spPr>
        <p:txBody>
          <a:bodyPr wrap="square" rtlCol="0">
            <a:spAutoFit/>
          </a:bodyPr>
          <a:lstStyle/>
          <a:p>
            <a:r>
              <a:rPr lang="en-IN" sz="2000" b="1" dirty="0">
                <a:solidFill>
                  <a:srgbClr val="002060"/>
                </a:solidFill>
                <a:latin typeface="Times New Roman" panose="02020603050405020304" pitchFamily="18" charset="0"/>
                <a:ea typeface="Tahoma" panose="020B0604030504040204" pitchFamily="34" charset="0"/>
                <a:cs typeface="Times New Roman" panose="02020603050405020304" pitchFamily="18" charset="0"/>
              </a:rPr>
              <a:t>1. Email Draft &amp; Folder Operations</a:t>
            </a:r>
          </a:p>
        </p:txBody>
      </p:sp>
      <p:sp>
        <p:nvSpPr>
          <p:cNvPr id="6" name="TextBox 5">
            <a:extLst>
              <a:ext uri="{FF2B5EF4-FFF2-40B4-BE49-F238E27FC236}">
                <a16:creationId xmlns:a16="http://schemas.microsoft.com/office/drawing/2014/main" id="{DD611B89-88B6-F18E-CF7F-4AE641367E8C}"/>
              </a:ext>
            </a:extLst>
          </p:cNvPr>
          <p:cNvSpPr txBox="1"/>
          <p:nvPr/>
        </p:nvSpPr>
        <p:spPr>
          <a:xfrm>
            <a:off x="381000" y="1600200"/>
            <a:ext cx="7543800" cy="1200329"/>
          </a:xfrm>
          <a:prstGeom prst="rect">
            <a:avLst/>
          </a:prstGeom>
          <a:noFill/>
        </p:spPr>
        <p:txBody>
          <a:bodyPr wrap="square" rtlCol="0">
            <a:spAutoFit/>
          </a:bodyPr>
          <a:lstStyle/>
          <a:p>
            <a:pPr marL="285750" indent="-285750">
              <a:buFont typeface="Wingdings" panose="05000000000000000000" pitchFamily="2" charset="2"/>
              <a:buChar char="q"/>
            </a:pPr>
            <a:r>
              <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 Implemented Save Draft API with validation, quota check, and MIME message creation </a:t>
            </a:r>
          </a:p>
          <a:p>
            <a:pPr marL="285750" indent="-285750">
              <a:buFont typeface="Wingdings" panose="05000000000000000000" pitchFamily="2" charset="2"/>
              <a:buChar char="q"/>
            </a:pPr>
            <a:r>
              <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Configured Drafts folder in Dovecot with special-use settings </a:t>
            </a:r>
          </a:p>
          <a:p>
            <a:pPr marL="285750" indent="-285750">
              <a:buFont typeface="Wingdings" panose="05000000000000000000" pitchFamily="2" charset="2"/>
              <a:buChar char="q"/>
            </a:pPr>
            <a:r>
              <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Developed Save to Folder functionality for Sent, Drafts. </a:t>
            </a:r>
          </a:p>
        </p:txBody>
      </p:sp>
      <p:sp>
        <p:nvSpPr>
          <p:cNvPr id="7" name="TextBox 6">
            <a:extLst>
              <a:ext uri="{FF2B5EF4-FFF2-40B4-BE49-F238E27FC236}">
                <a16:creationId xmlns:a16="http://schemas.microsoft.com/office/drawing/2014/main" id="{FEE0EDAF-369F-535C-89B6-B7BE5C93F548}"/>
              </a:ext>
            </a:extLst>
          </p:cNvPr>
          <p:cNvSpPr txBox="1"/>
          <p:nvPr/>
        </p:nvSpPr>
        <p:spPr>
          <a:xfrm>
            <a:off x="106680" y="3106710"/>
            <a:ext cx="3200400" cy="400110"/>
          </a:xfrm>
          <a:prstGeom prst="rect">
            <a:avLst/>
          </a:prstGeom>
          <a:noFill/>
        </p:spPr>
        <p:txBody>
          <a:bodyPr wrap="square" rtlCol="0">
            <a:spAutoFit/>
          </a:bodyPr>
          <a:lstStyle/>
          <a:p>
            <a:r>
              <a:rPr lang="en-US" sz="2000" b="1" dirty="0">
                <a:solidFill>
                  <a:srgbClr val="002060"/>
                </a:solidFill>
                <a:latin typeface="Times New Roman" panose="02020603050405020304" pitchFamily="18" charset="0"/>
                <a:ea typeface="Tahoma" panose="020B0604030504040204" pitchFamily="34" charset="0"/>
                <a:cs typeface="Times New Roman" panose="02020603050405020304" pitchFamily="18" charset="0"/>
              </a:rPr>
              <a:t>2.</a:t>
            </a:r>
            <a:r>
              <a:rPr lang="en-IN" sz="2000" b="1" dirty="0">
                <a:solidFill>
                  <a:srgbClr val="002060"/>
                </a:solidFill>
                <a:latin typeface="Times New Roman" panose="02020603050405020304" pitchFamily="18" charset="0"/>
                <a:ea typeface="Tahoma" panose="020B0604030504040204" pitchFamily="34" charset="0"/>
                <a:cs typeface="Times New Roman" panose="02020603050405020304" pitchFamily="18" charset="0"/>
              </a:rPr>
              <a:t> Email Fetching</a:t>
            </a:r>
          </a:p>
        </p:txBody>
      </p:sp>
      <p:sp>
        <p:nvSpPr>
          <p:cNvPr id="8" name="TextBox 7">
            <a:extLst>
              <a:ext uri="{FF2B5EF4-FFF2-40B4-BE49-F238E27FC236}">
                <a16:creationId xmlns:a16="http://schemas.microsoft.com/office/drawing/2014/main" id="{F95E07A0-4049-FFA4-996E-35C9B78D5C3E}"/>
              </a:ext>
            </a:extLst>
          </p:cNvPr>
          <p:cNvSpPr txBox="1"/>
          <p:nvPr/>
        </p:nvSpPr>
        <p:spPr>
          <a:xfrm>
            <a:off x="381000" y="3520464"/>
            <a:ext cx="6934200" cy="646331"/>
          </a:xfrm>
          <a:prstGeom prst="rect">
            <a:avLst/>
          </a:prstGeom>
          <a:noFill/>
        </p:spPr>
        <p:txBody>
          <a:bodyPr wrap="square" rtlCol="0">
            <a:spAutoFit/>
          </a:bodyPr>
          <a:lstStyle/>
          <a:p>
            <a:pPr marL="285750" indent="-285750">
              <a:buFont typeface="Wingdings" panose="05000000000000000000" pitchFamily="2" charset="2"/>
              <a:buChar char="q"/>
            </a:pPr>
            <a:r>
              <a:rPr lang="en-US"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Implemented email fetching from multiple folders (Inbox, Sent, Drafts, Trash, Archive, Custom) </a:t>
            </a:r>
          </a:p>
        </p:txBody>
      </p:sp>
      <p:sp>
        <p:nvSpPr>
          <p:cNvPr id="9" name="TextBox 8">
            <a:extLst>
              <a:ext uri="{FF2B5EF4-FFF2-40B4-BE49-F238E27FC236}">
                <a16:creationId xmlns:a16="http://schemas.microsoft.com/office/drawing/2014/main" id="{05375448-E235-828A-CBA9-2C693F671A1E}"/>
              </a:ext>
            </a:extLst>
          </p:cNvPr>
          <p:cNvSpPr txBox="1"/>
          <p:nvPr/>
        </p:nvSpPr>
        <p:spPr>
          <a:xfrm>
            <a:off x="112776" y="4302574"/>
            <a:ext cx="3925824" cy="400110"/>
          </a:xfrm>
          <a:prstGeom prst="rect">
            <a:avLst/>
          </a:prstGeom>
          <a:noFill/>
        </p:spPr>
        <p:txBody>
          <a:bodyPr wrap="square" rtlCol="0">
            <a:spAutoFit/>
          </a:bodyPr>
          <a:lstStyle/>
          <a:p>
            <a:r>
              <a:rPr lang="en-IN" sz="2000" b="1" dirty="0">
                <a:solidFill>
                  <a:srgbClr val="002060"/>
                </a:solidFill>
                <a:latin typeface="Times New Roman" panose="02020603050405020304" pitchFamily="18" charset="0"/>
                <a:ea typeface="Tahoma" panose="020B0604030504040204" pitchFamily="34" charset="0"/>
                <a:cs typeface="Times New Roman" panose="02020603050405020304" pitchFamily="18" charset="0"/>
              </a:rPr>
              <a:t>3. Mail Movement &amp; Deletion </a:t>
            </a:r>
          </a:p>
        </p:txBody>
      </p:sp>
      <p:sp>
        <p:nvSpPr>
          <p:cNvPr id="10" name="TextBox 9">
            <a:extLst>
              <a:ext uri="{FF2B5EF4-FFF2-40B4-BE49-F238E27FC236}">
                <a16:creationId xmlns:a16="http://schemas.microsoft.com/office/drawing/2014/main" id="{C142E5B2-91B7-2663-D522-34B0D8854F47}"/>
              </a:ext>
            </a:extLst>
          </p:cNvPr>
          <p:cNvSpPr txBox="1"/>
          <p:nvPr/>
        </p:nvSpPr>
        <p:spPr>
          <a:xfrm>
            <a:off x="381000" y="4791670"/>
            <a:ext cx="7086600" cy="923330"/>
          </a:xfrm>
          <a:prstGeom prst="rect">
            <a:avLst/>
          </a:prstGeom>
          <a:noFill/>
        </p:spPr>
        <p:txBody>
          <a:bodyPr wrap="square" rtlCol="0">
            <a:spAutoFit/>
          </a:bodyPr>
          <a:lstStyle/>
          <a:p>
            <a:pPr marL="285750" indent="-285750">
              <a:buFont typeface="Wingdings" panose="05000000000000000000" pitchFamily="2" charset="2"/>
              <a:buChar char="q"/>
            </a:pPr>
            <a:r>
              <a:rPr lang="en-US"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Implemented IMAP-based mail movement for Trash, Archive, and custom folders without database dependency, ensuring data safety through backup copies and proper validation.</a:t>
            </a:r>
            <a:endPar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314479348"/>
      </p:ext>
    </p:extLst>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b="1" dirty="0">
                <a:solidFill>
                  <a:srgbClr val="FF0000"/>
                </a:solidFill>
                <a:latin typeface="Times New Roman" panose="02020603050405020304" pitchFamily="18" charset="0"/>
                <a:ea typeface="Tahoma" panose="020B0604030504040204" pitchFamily="34" charset="0"/>
                <a:cs typeface="Times New Roman" panose="02020603050405020304" pitchFamily="18" charset="0"/>
              </a:rPr>
              <a:t>Key Contribution Contd..</a:t>
            </a:r>
          </a:p>
        </p:txBody>
      </p:sp>
      <p:sp>
        <p:nvSpPr>
          <p:cNvPr id="3" name="Title 1">
            <a:extLst>
              <a:ext uri="{FF2B5EF4-FFF2-40B4-BE49-F238E27FC236}">
                <a16:creationId xmlns:a16="http://schemas.microsoft.com/office/drawing/2014/main" id="{B0616F4E-404F-BE16-2BC5-592808F5C18F}"/>
              </a:ext>
            </a:extLst>
          </p:cNvPr>
          <p:cNvSpPr txBox="1">
            <a:spLocks/>
          </p:cNvSpPr>
          <p:nvPr/>
        </p:nvSpPr>
        <p:spPr bwMode="auto">
          <a:xfrm>
            <a:off x="82320" y="1078279"/>
            <a:ext cx="8596668" cy="496824"/>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normAutofit/>
          </a:bodyPr>
          <a:lstStyle>
            <a:lvl1pPr algn="l" rtl="0" eaLnBrk="0" fontAlgn="base" hangingPunct="0">
              <a:spcBef>
                <a:spcPct val="0"/>
              </a:spcBef>
              <a:spcAft>
                <a:spcPct val="0"/>
              </a:spcAft>
              <a:defRPr sz="3200" b="0" kern="1200">
                <a:solidFill>
                  <a:srgbClr val="377BCD"/>
                </a:solidFill>
                <a:latin typeface="Arial" panose="020B0604020202020204" pitchFamily="34" charset="0"/>
                <a:ea typeface="+mj-ea"/>
                <a:cs typeface="Arial" panose="020B0604020202020204" pitchFamily="34" charset="0"/>
              </a:defRPr>
            </a:lvl1pPr>
            <a:lvl2pPr algn="l" rtl="0" eaLnBrk="0" fontAlgn="base" hangingPunct="0">
              <a:spcBef>
                <a:spcPct val="0"/>
              </a:spcBef>
              <a:spcAft>
                <a:spcPct val="0"/>
              </a:spcAft>
              <a:defRPr sz="3200">
                <a:solidFill>
                  <a:srgbClr val="377BCD"/>
                </a:solidFill>
                <a:latin typeface="Arial" charset="0"/>
                <a:cs typeface="Arial" charset="0"/>
              </a:defRPr>
            </a:lvl2pPr>
            <a:lvl3pPr algn="l" rtl="0" eaLnBrk="0" fontAlgn="base" hangingPunct="0">
              <a:spcBef>
                <a:spcPct val="0"/>
              </a:spcBef>
              <a:spcAft>
                <a:spcPct val="0"/>
              </a:spcAft>
              <a:defRPr sz="3200">
                <a:solidFill>
                  <a:srgbClr val="377BCD"/>
                </a:solidFill>
                <a:latin typeface="Arial" charset="0"/>
                <a:cs typeface="Arial" charset="0"/>
              </a:defRPr>
            </a:lvl3pPr>
            <a:lvl4pPr algn="l" rtl="0" eaLnBrk="0" fontAlgn="base" hangingPunct="0">
              <a:spcBef>
                <a:spcPct val="0"/>
              </a:spcBef>
              <a:spcAft>
                <a:spcPct val="0"/>
              </a:spcAft>
              <a:defRPr sz="3200">
                <a:solidFill>
                  <a:srgbClr val="377BCD"/>
                </a:solidFill>
                <a:latin typeface="Arial" charset="0"/>
                <a:cs typeface="Arial" charset="0"/>
              </a:defRPr>
            </a:lvl4pPr>
            <a:lvl5pPr algn="l" rtl="0" eaLnBrk="0" fontAlgn="base" hangingPunct="0">
              <a:spcBef>
                <a:spcPct val="0"/>
              </a:spcBef>
              <a:spcAft>
                <a:spcPct val="0"/>
              </a:spcAft>
              <a:defRPr sz="3200">
                <a:solidFill>
                  <a:srgbClr val="377BCD"/>
                </a:solidFill>
                <a:latin typeface="Arial" charset="0"/>
                <a:cs typeface="Arial" charset="0"/>
              </a:defRPr>
            </a:lvl5pPr>
            <a:lvl6pPr marL="457200" algn="l" rtl="0" fontAlgn="base">
              <a:spcBef>
                <a:spcPct val="0"/>
              </a:spcBef>
              <a:spcAft>
                <a:spcPct val="0"/>
              </a:spcAft>
              <a:defRPr sz="3200">
                <a:solidFill>
                  <a:srgbClr val="377BCD"/>
                </a:solidFill>
                <a:latin typeface="Arial" charset="0"/>
                <a:cs typeface="Arial" charset="0"/>
              </a:defRPr>
            </a:lvl6pPr>
            <a:lvl7pPr marL="914400" algn="l" rtl="0" fontAlgn="base">
              <a:spcBef>
                <a:spcPct val="0"/>
              </a:spcBef>
              <a:spcAft>
                <a:spcPct val="0"/>
              </a:spcAft>
              <a:defRPr sz="3200">
                <a:solidFill>
                  <a:srgbClr val="377BCD"/>
                </a:solidFill>
                <a:latin typeface="Arial" charset="0"/>
                <a:cs typeface="Arial" charset="0"/>
              </a:defRPr>
            </a:lvl7pPr>
            <a:lvl8pPr marL="1371600" algn="l" rtl="0" fontAlgn="base">
              <a:spcBef>
                <a:spcPct val="0"/>
              </a:spcBef>
              <a:spcAft>
                <a:spcPct val="0"/>
              </a:spcAft>
              <a:defRPr sz="3200">
                <a:solidFill>
                  <a:srgbClr val="377BCD"/>
                </a:solidFill>
                <a:latin typeface="Arial" charset="0"/>
                <a:cs typeface="Arial" charset="0"/>
              </a:defRPr>
            </a:lvl8pPr>
            <a:lvl9pPr marL="1828800" algn="l" rtl="0" fontAlgn="base">
              <a:spcBef>
                <a:spcPct val="0"/>
              </a:spcBef>
              <a:spcAft>
                <a:spcPct val="0"/>
              </a:spcAft>
              <a:defRPr sz="3200">
                <a:solidFill>
                  <a:srgbClr val="377BCD"/>
                </a:solidFill>
                <a:latin typeface="Arial" charset="0"/>
                <a:cs typeface="Arial" charset="0"/>
              </a:defRPr>
            </a:lvl9pPr>
          </a:lstStyle>
          <a:p>
            <a:r>
              <a:rPr lang="en-IN" sz="2000" b="1" dirty="0">
                <a:solidFill>
                  <a:srgbClr val="002060"/>
                </a:solidFill>
                <a:latin typeface="Times New Roman" panose="02020603050405020304" pitchFamily="18" charset="0"/>
                <a:ea typeface="Tahoma" panose="020B0604030504040204" pitchFamily="34" charset="0"/>
                <a:cs typeface="Times New Roman" panose="02020603050405020304" pitchFamily="18" charset="0"/>
              </a:rPr>
              <a:t>4. Quota Management</a:t>
            </a:r>
          </a:p>
        </p:txBody>
      </p:sp>
      <p:sp>
        <p:nvSpPr>
          <p:cNvPr id="4" name="TextBox 3">
            <a:extLst>
              <a:ext uri="{FF2B5EF4-FFF2-40B4-BE49-F238E27FC236}">
                <a16:creationId xmlns:a16="http://schemas.microsoft.com/office/drawing/2014/main" id="{3B25D156-F3E2-9854-1C84-EEF9F45172AF}"/>
              </a:ext>
            </a:extLst>
          </p:cNvPr>
          <p:cNvSpPr txBox="1"/>
          <p:nvPr/>
        </p:nvSpPr>
        <p:spPr>
          <a:xfrm>
            <a:off x="457200" y="1660046"/>
            <a:ext cx="7882128" cy="646331"/>
          </a:xfrm>
          <a:prstGeom prst="rect">
            <a:avLst/>
          </a:prstGeom>
          <a:noFill/>
        </p:spPr>
        <p:txBody>
          <a:bodyPr wrap="square" rtlCol="0">
            <a:spAutoFit/>
          </a:bodyPr>
          <a:lstStyle/>
          <a:p>
            <a:pPr marL="285750" indent="-285750">
              <a:buFont typeface="Wingdings" panose="05000000000000000000" pitchFamily="2" charset="2"/>
              <a:buChar char="q"/>
            </a:pPr>
            <a:r>
              <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Implemented </a:t>
            </a:r>
            <a:r>
              <a:rPr lang="en-IN" dirty="0" err="1">
                <a:solidFill>
                  <a:srgbClr val="0070C0"/>
                </a:solidFill>
                <a:latin typeface="Times New Roman" panose="02020603050405020304" pitchFamily="18" charset="0"/>
                <a:ea typeface="Tahoma" panose="020B0604030504040204" pitchFamily="34" charset="0"/>
                <a:cs typeface="Times New Roman" panose="02020603050405020304" pitchFamily="18" charset="0"/>
              </a:rPr>
              <a:t>getMaildirSize</a:t>
            </a:r>
            <a:r>
              <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 for real-time mailbox storage calculation </a:t>
            </a:r>
          </a:p>
          <a:p>
            <a:pPr marL="285750" indent="-285750">
              <a:buFont typeface="Wingdings" panose="05000000000000000000" pitchFamily="2" charset="2"/>
              <a:buChar char="q"/>
            </a:pPr>
            <a:r>
              <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Integrated Dovecot quota configuration and formatting for UI-friendly output </a:t>
            </a:r>
          </a:p>
        </p:txBody>
      </p:sp>
      <p:sp>
        <p:nvSpPr>
          <p:cNvPr id="5" name="TextBox 4">
            <a:extLst>
              <a:ext uri="{FF2B5EF4-FFF2-40B4-BE49-F238E27FC236}">
                <a16:creationId xmlns:a16="http://schemas.microsoft.com/office/drawing/2014/main" id="{22F3499D-EFE3-BD3D-0A6D-2B07666B1990}"/>
              </a:ext>
            </a:extLst>
          </p:cNvPr>
          <p:cNvSpPr txBox="1"/>
          <p:nvPr/>
        </p:nvSpPr>
        <p:spPr>
          <a:xfrm>
            <a:off x="122598" y="2672613"/>
            <a:ext cx="4425018" cy="400110"/>
          </a:xfrm>
          <a:prstGeom prst="rect">
            <a:avLst/>
          </a:prstGeom>
          <a:noFill/>
        </p:spPr>
        <p:txBody>
          <a:bodyPr wrap="square" rtlCol="0">
            <a:spAutoFit/>
          </a:bodyPr>
          <a:lstStyle/>
          <a:p>
            <a:r>
              <a:rPr lang="en-US" sz="2000" b="1" dirty="0">
                <a:solidFill>
                  <a:srgbClr val="002060"/>
                </a:solidFill>
                <a:latin typeface="Times New Roman" panose="02020603050405020304" pitchFamily="18" charset="0"/>
                <a:ea typeface="Tahoma" panose="020B0604030504040204" pitchFamily="34" charset="0"/>
                <a:cs typeface="Times New Roman" panose="02020603050405020304" pitchFamily="18" charset="0"/>
              </a:rPr>
              <a:t>5. </a:t>
            </a:r>
            <a:r>
              <a:rPr lang="en-IN" sz="2000" b="1" dirty="0">
                <a:solidFill>
                  <a:srgbClr val="002060"/>
                </a:solidFill>
                <a:latin typeface="Times New Roman" panose="02020603050405020304" pitchFamily="18" charset="0"/>
                <a:ea typeface="Tahoma" panose="020B0604030504040204" pitchFamily="34" charset="0"/>
                <a:cs typeface="Times New Roman" panose="02020603050405020304" pitchFamily="18" charset="0"/>
              </a:rPr>
              <a:t>Custom Folder Management </a:t>
            </a:r>
          </a:p>
        </p:txBody>
      </p:sp>
      <p:sp>
        <p:nvSpPr>
          <p:cNvPr id="6" name="TextBox 5">
            <a:extLst>
              <a:ext uri="{FF2B5EF4-FFF2-40B4-BE49-F238E27FC236}">
                <a16:creationId xmlns:a16="http://schemas.microsoft.com/office/drawing/2014/main" id="{1A2D79C2-22A7-A941-891F-000810239F90}"/>
              </a:ext>
            </a:extLst>
          </p:cNvPr>
          <p:cNvSpPr txBox="1"/>
          <p:nvPr/>
        </p:nvSpPr>
        <p:spPr>
          <a:xfrm>
            <a:off x="439590" y="3047481"/>
            <a:ext cx="7882128" cy="646331"/>
          </a:xfrm>
          <a:prstGeom prst="rect">
            <a:avLst/>
          </a:prstGeom>
          <a:noFill/>
        </p:spPr>
        <p:txBody>
          <a:bodyPr wrap="square" rtlCol="0">
            <a:spAutoFit/>
          </a:bodyPr>
          <a:lstStyle/>
          <a:p>
            <a:pPr marL="285750" indent="-285750">
              <a:buFont typeface="Wingdings" panose="05000000000000000000" pitchFamily="2" charset="2"/>
              <a:buChar char="q"/>
            </a:pPr>
            <a:r>
              <a:rPr lang="en-US"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Created APIs for custom folder creation, listing, and deletion </a:t>
            </a:r>
          </a:p>
          <a:p>
            <a:pPr marL="285750" indent="-285750">
              <a:buFont typeface="Wingdings" panose="05000000000000000000" pitchFamily="2" charset="2"/>
              <a:buChar char="q"/>
            </a:pPr>
            <a:r>
              <a:rPr lang="en-US"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Ensured system folders are protected from accidental operations</a:t>
            </a:r>
            <a:endPar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endParaRPr>
          </a:p>
        </p:txBody>
      </p:sp>
      <p:sp>
        <p:nvSpPr>
          <p:cNvPr id="7" name="TextBox 6">
            <a:extLst>
              <a:ext uri="{FF2B5EF4-FFF2-40B4-BE49-F238E27FC236}">
                <a16:creationId xmlns:a16="http://schemas.microsoft.com/office/drawing/2014/main" id="{91074C10-0347-A5ED-514E-A73DAC4641B6}"/>
              </a:ext>
            </a:extLst>
          </p:cNvPr>
          <p:cNvSpPr txBox="1"/>
          <p:nvPr/>
        </p:nvSpPr>
        <p:spPr>
          <a:xfrm>
            <a:off x="152400" y="3744905"/>
            <a:ext cx="3995928" cy="400110"/>
          </a:xfrm>
          <a:prstGeom prst="rect">
            <a:avLst/>
          </a:prstGeom>
          <a:noFill/>
        </p:spPr>
        <p:txBody>
          <a:bodyPr wrap="square" rtlCol="0">
            <a:spAutoFit/>
          </a:bodyPr>
          <a:lstStyle/>
          <a:p>
            <a:r>
              <a:rPr lang="en-US" sz="2000" b="1" dirty="0">
                <a:solidFill>
                  <a:srgbClr val="002060"/>
                </a:solidFill>
                <a:latin typeface="Times New Roman" panose="02020603050405020304" pitchFamily="18" charset="0"/>
                <a:ea typeface="Tahoma" panose="020B0604030504040204" pitchFamily="34" charset="0"/>
                <a:cs typeface="Times New Roman" panose="02020603050405020304" pitchFamily="18" charset="0"/>
              </a:rPr>
              <a:t>6. </a:t>
            </a:r>
            <a:r>
              <a:rPr lang="en-IN" sz="2000" b="1" dirty="0">
                <a:solidFill>
                  <a:srgbClr val="002060"/>
                </a:solidFill>
                <a:latin typeface="Times New Roman" panose="02020603050405020304" pitchFamily="18" charset="0"/>
                <a:ea typeface="Tahoma" panose="020B0604030504040204" pitchFamily="34" charset="0"/>
                <a:cs typeface="Times New Roman" panose="02020603050405020304" pitchFamily="18" charset="0"/>
              </a:rPr>
              <a:t>Email Archival</a:t>
            </a:r>
          </a:p>
        </p:txBody>
      </p:sp>
      <p:sp>
        <p:nvSpPr>
          <p:cNvPr id="8" name="TextBox 7">
            <a:extLst>
              <a:ext uri="{FF2B5EF4-FFF2-40B4-BE49-F238E27FC236}">
                <a16:creationId xmlns:a16="http://schemas.microsoft.com/office/drawing/2014/main" id="{AB901C45-861C-7187-60D7-E16BB74282EB}"/>
              </a:ext>
            </a:extLst>
          </p:cNvPr>
          <p:cNvSpPr txBox="1"/>
          <p:nvPr/>
        </p:nvSpPr>
        <p:spPr>
          <a:xfrm>
            <a:off x="423672" y="4165940"/>
            <a:ext cx="7882128" cy="923330"/>
          </a:xfrm>
          <a:prstGeom prst="rect">
            <a:avLst/>
          </a:prstGeom>
          <a:noFill/>
        </p:spPr>
        <p:txBody>
          <a:bodyPr wrap="square" rtlCol="0">
            <a:spAutoFit/>
          </a:bodyPr>
          <a:lstStyle/>
          <a:p>
            <a:pPr marL="285750" indent="-285750">
              <a:buFont typeface="Wingdings" panose="05000000000000000000" pitchFamily="2" charset="2"/>
              <a:buChar char="q"/>
            </a:pPr>
            <a:r>
              <a:rPr lang="en-US"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Developed a </a:t>
            </a:r>
            <a:r>
              <a:rPr lang="en-US" dirty="0" err="1">
                <a:solidFill>
                  <a:srgbClr val="0070C0"/>
                </a:solidFill>
                <a:latin typeface="Times New Roman" panose="02020603050405020304" pitchFamily="18" charset="0"/>
                <a:ea typeface="Tahoma" panose="020B0604030504040204" pitchFamily="34" charset="0"/>
                <a:cs typeface="Times New Roman" panose="02020603050405020304" pitchFamily="18" charset="0"/>
              </a:rPr>
              <a:t>Maildir</a:t>
            </a:r>
            <a:r>
              <a:rPr lang="en-US"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-to-Database email archival service, mapping emails to structured database entities using JSON fields.</a:t>
            </a:r>
          </a:p>
          <a:p>
            <a:pPr marL="285750" indent="-285750">
              <a:buFont typeface="Wingdings" panose="05000000000000000000" pitchFamily="2" charset="2"/>
              <a:buChar char="q"/>
            </a:pPr>
            <a:r>
              <a:rPr lang="en-US"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Implemented email restore functionality.</a:t>
            </a:r>
            <a:endPar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endParaRPr>
          </a:p>
        </p:txBody>
      </p:sp>
      <p:sp>
        <p:nvSpPr>
          <p:cNvPr id="9" name="TextBox 8">
            <a:extLst>
              <a:ext uri="{FF2B5EF4-FFF2-40B4-BE49-F238E27FC236}">
                <a16:creationId xmlns:a16="http://schemas.microsoft.com/office/drawing/2014/main" id="{745074A2-0992-F013-C2A3-9A355E757965}"/>
              </a:ext>
            </a:extLst>
          </p:cNvPr>
          <p:cNvSpPr txBox="1"/>
          <p:nvPr/>
        </p:nvSpPr>
        <p:spPr>
          <a:xfrm>
            <a:off x="457878" y="5583832"/>
            <a:ext cx="7406640" cy="923330"/>
          </a:xfrm>
          <a:prstGeom prst="rect">
            <a:avLst/>
          </a:prstGeom>
          <a:noFill/>
        </p:spPr>
        <p:txBody>
          <a:bodyPr wrap="square" rtlCol="0">
            <a:spAutoFit/>
          </a:bodyPr>
          <a:lstStyle/>
          <a:p>
            <a:pPr marL="285750" indent="-285750">
              <a:buFont typeface="Wingdings" panose="05000000000000000000" pitchFamily="2" charset="2"/>
              <a:buChar char="q"/>
            </a:pPr>
            <a:r>
              <a:rPr lang="en-US"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Developed user task management (create, update, fetch, delete)</a:t>
            </a:r>
          </a:p>
          <a:p>
            <a:pPr marL="285750" indent="-285750">
              <a:buFont typeface="Wingdings" panose="05000000000000000000" pitchFamily="2" charset="2"/>
              <a:buChar char="q"/>
            </a:pPr>
            <a:r>
              <a:rPr lang="en-US"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 Implemented logic for all-day and timed tasks </a:t>
            </a:r>
          </a:p>
          <a:p>
            <a:pPr marL="285750" indent="-285750">
              <a:buFont typeface="Wingdings" panose="05000000000000000000" pitchFamily="2" charset="2"/>
              <a:buChar char="q"/>
            </a:pPr>
            <a:r>
              <a:rPr lang="en-US"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Supported today’s tasks and future task retrieval </a:t>
            </a:r>
            <a:endPar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endParaRPr>
          </a:p>
        </p:txBody>
      </p:sp>
      <p:sp>
        <p:nvSpPr>
          <p:cNvPr id="10" name="TextBox 9">
            <a:extLst>
              <a:ext uri="{FF2B5EF4-FFF2-40B4-BE49-F238E27FC236}">
                <a16:creationId xmlns:a16="http://schemas.microsoft.com/office/drawing/2014/main" id="{2643A9BC-7282-99FF-CF9F-40C6D2955EAC}"/>
              </a:ext>
            </a:extLst>
          </p:cNvPr>
          <p:cNvSpPr txBox="1"/>
          <p:nvPr/>
        </p:nvSpPr>
        <p:spPr>
          <a:xfrm>
            <a:off x="152400" y="5089270"/>
            <a:ext cx="3868590" cy="400110"/>
          </a:xfrm>
          <a:prstGeom prst="rect">
            <a:avLst/>
          </a:prstGeom>
          <a:noFill/>
        </p:spPr>
        <p:txBody>
          <a:bodyPr wrap="square" rtlCol="0">
            <a:spAutoFit/>
          </a:bodyPr>
          <a:lstStyle/>
          <a:p>
            <a:r>
              <a:rPr lang="en-US" sz="2000" b="1" dirty="0">
                <a:solidFill>
                  <a:srgbClr val="002060"/>
                </a:solidFill>
                <a:latin typeface="Times New Roman" panose="02020603050405020304" pitchFamily="18" charset="0"/>
                <a:ea typeface="Tahoma" panose="020B0604030504040204" pitchFamily="34" charset="0"/>
                <a:cs typeface="Times New Roman" panose="02020603050405020304" pitchFamily="18" charset="0"/>
              </a:rPr>
              <a:t>7. Task &amp; Calendar Service</a:t>
            </a:r>
            <a:endParaRPr lang="en-IN" sz="2000" b="1" dirty="0">
              <a:solidFill>
                <a:srgbClr val="002060"/>
              </a:solidFill>
              <a:latin typeface="Times New Roman" panose="02020603050405020304" pitchFamily="18" charset="0"/>
              <a:ea typeface="Tahom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738922658"/>
      </p:ext>
    </p:extLst>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10BEF1-8C88-7CA6-5DC9-978F3D1AA7BF}"/>
              </a:ext>
            </a:extLst>
          </p:cNvPr>
          <p:cNvSpPr>
            <a:spLocks noGrp="1"/>
          </p:cNvSpPr>
          <p:nvPr>
            <p:ph type="title"/>
          </p:nvPr>
        </p:nvSpPr>
        <p:spPr>
          <a:xfrm>
            <a:off x="457200" y="350838"/>
            <a:ext cx="7924800" cy="639762"/>
          </a:xfrm>
        </p:spPr>
        <p:txBody>
          <a:bodyPr/>
          <a:lstStyle/>
          <a:p>
            <a:r>
              <a:rPr lang="en-US" b="1" dirty="0">
                <a:solidFill>
                  <a:srgbClr val="FF0000"/>
                </a:solidFill>
                <a:latin typeface="Times New Roman" panose="02020603050405020304" pitchFamily="18" charset="0"/>
                <a:ea typeface="Tahoma" panose="020B0604030504040204" pitchFamily="34" charset="0"/>
                <a:cs typeface="Times New Roman" panose="02020603050405020304" pitchFamily="18" charset="0"/>
              </a:rPr>
              <a:t>4. Suitability of the Work</a:t>
            </a:r>
            <a:endParaRPr lang="en-IN" dirty="0">
              <a:solidFill>
                <a:srgbClr val="FF0000"/>
              </a:solidFill>
              <a:latin typeface="Times New Roman" panose="02020603050405020304" pitchFamily="18" charset="0"/>
              <a:ea typeface="Tahoma" panose="020B0604030504040204" pitchFamily="34" charset="0"/>
              <a:cs typeface="Times New Roman" panose="02020603050405020304" pitchFamily="18" charset="0"/>
            </a:endParaRPr>
          </a:p>
        </p:txBody>
      </p:sp>
      <p:sp>
        <p:nvSpPr>
          <p:cNvPr id="3" name="Text Placeholder 2">
            <a:extLst>
              <a:ext uri="{FF2B5EF4-FFF2-40B4-BE49-F238E27FC236}">
                <a16:creationId xmlns:a16="http://schemas.microsoft.com/office/drawing/2014/main" id="{5229B2AD-9A9D-31F7-F79E-9A38482AE2B1}"/>
              </a:ext>
            </a:extLst>
          </p:cNvPr>
          <p:cNvSpPr>
            <a:spLocks noGrp="1"/>
          </p:cNvSpPr>
          <p:nvPr>
            <p:ph type="body" sz="quarter" idx="10"/>
          </p:nvPr>
        </p:nvSpPr>
        <p:spPr>
          <a:xfrm>
            <a:off x="457200" y="1143000"/>
            <a:ext cx="7016750" cy="436562"/>
          </a:xfrm>
        </p:spPr>
        <p:txBody>
          <a:bodyPr/>
          <a:lstStyle/>
          <a:p>
            <a:r>
              <a:rPr lang="en-IN" sz="2000" b="1" dirty="0">
                <a:solidFill>
                  <a:srgbClr val="002060"/>
                </a:solidFill>
                <a:latin typeface="Times New Roman" panose="02020603050405020304" pitchFamily="18" charset="0"/>
                <a:ea typeface="Tahoma" panose="020B0604030504040204" pitchFamily="34" charset="0"/>
                <a:cs typeface="Times New Roman" panose="02020603050405020304" pitchFamily="18" charset="0"/>
              </a:rPr>
              <a:t>Skill Alignment</a:t>
            </a:r>
          </a:p>
          <a:p>
            <a:endParaRPr lang="en-IN" sz="2000" dirty="0">
              <a:solidFill>
                <a:srgbClr val="002060"/>
              </a:solidFill>
              <a:latin typeface="Times New Roman" panose="02020603050405020304" pitchFamily="18" charset="0"/>
              <a:ea typeface="Tahoma" panose="020B0604030504040204" pitchFamily="34" charset="0"/>
              <a:cs typeface="Times New Roman" panose="02020603050405020304" pitchFamily="18" charset="0"/>
            </a:endParaRPr>
          </a:p>
        </p:txBody>
      </p:sp>
      <p:sp>
        <p:nvSpPr>
          <p:cNvPr id="4" name="TextBox 3">
            <a:extLst>
              <a:ext uri="{FF2B5EF4-FFF2-40B4-BE49-F238E27FC236}">
                <a16:creationId xmlns:a16="http://schemas.microsoft.com/office/drawing/2014/main" id="{E9EF93CC-A197-0BED-194C-FC3901B72C36}"/>
              </a:ext>
            </a:extLst>
          </p:cNvPr>
          <p:cNvSpPr txBox="1"/>
          <p:nvPr/>
        </p:nvSpPr>
        <p:spPr>
          <a:xfrm>
            <a:off x="685800" y="1756346"/>
            <a:ext cx="7315200" cy="3970318"/>
          </a:xfrm>
          <a:prstGeom prst="rect">
            <a:avLst/>
          </a:prstGeom>
          <a:noFill/>
        </p:spPr>
        <p:txBody>
          <a:bodyPr wrap="square" rtlCol="0">
            <a:spAutoFit/>
          </a:bodyPr>
          <a:lstStyle/>
          <a:p>
            <a:pPr marL="285750" indent="-285750">
              <a:buFont typeface="Wingdings" panose="05000000000000000000" pitchFamily="2" charset="2"/>
              <a:buChar char="q"/>
            </a:pPr>
            <a:r>
              <a:rPr lang="en-US"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I have experience with Java and Spring Boot for service-layer development.</a:t>
            </a:r>
          </a:p>
          <a:p>
            <a:endParaRPr lang="en-US" dirty="0">
              <a:solidFill>
                <a:srgbClr val="0070C0"/>
              </a:solidFill>
              <a:latin typeface="Times New Roman" panose="02020603050405020304" pitchFamily="18" charset="0"/>
              <a:ea typeface="Tahoma" panose="020B0604030504040204" pitchFamily="34" charset="0"/>
              <a:cs typeface="Times New Roman" panose="02020603050405020304" pitchFamily="18" charset="0"/>
            </a:endParaRPr>
          </a:p>
          <a:p>
            <a:pPr marL="285750" indent="-285750">
              <a:buFont typeface="Wingdings" panose="05000000000000000000" pitchFamily="2" charset="2"/>
              <a:buChar char="q"/>
            </a:pPr>
            <a:r>
              <a:rPr lang="en-US"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I have handled database tasks like entity mapping, JSON storage.</a:t>
            </a:r>
          </a:p>
          <a:p>
            <a:endParaRPr lang="en-US" dirty="0">
              <a:solidFill>
                <a:srgbClr val="0070C0"/>
              </a:solidFill>
              <a:latin typeface="Times New Roman" panose="02020603050405020304" pitchFamily="18" charset="0"/>
              <a:ea typeface="Tahoma" panose="020B0604030504040204" pitchFamily="34" charset="0"/>
              <a:cs typeface="Times New Roman" panose="02020603050405020304" pitchFamily="18" charset="0"/>
            </a:endParaRPr>
          </a:p>
          <a:p>
            <a:pPr marL="285750" indent="-285750">
              <a:buFont typeface="Wingdings" panose="05000000000000000000" pitchFamily="2" charset="2"/>
              <a:buChar char="q"/>
            </a:pPr>
            <a:r>
              <a:rPr lang="en-US"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I have worked on mail sending functionality in a previous project.</a:t>
            </a:r>
          </a:p>
          <a:p>
            <a:endParaRPr lang="en-US" dirty="0">
              <a:solidFill>
                <a:srgbClr val="0070C0"/>
              </a:solidFill>
              <a:latin typeface="Times New Roman" panose="02020603050405020304" pitchFamily="18" charset="0"/>
              <a:ea typeface="Tahoma" panose="020B0604030504040204" pitchFamily="34" charset="0"/>
              <a:cs typeface="Times New Roman" panose="02020603050405020304" pitchFamily="18" charset="0"/>
            </a:endParaRPr>
          </a:p>
          <a:p>
            <a:pPr marL="285750" indent="-285750">
              <a:buFont typeface="Wingdings" panose="05000000000000000000" pitchFamily="2" charset="2"/>
              <a:buChar char="q"/>
            </a:pPr>
            <a:r>
              <a:rPr lang="en-US"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I have the ability to solve complex issues, as I faced in this project, like mailbox quota calculations and system configuration setup.</a:t>
            </a:r>
          </a:p>
          <a:p>
            <a:endParaRPr lang="en-US" dirty="0">
              <a:solidFill>
                <a:srgbClr val="0070C0"/>
              </a:solidFill>
              <a:latin typeface="Times New Roman" panose="02020603050405020304" pitchFamily="18" charset="0"/>
              <a:ea typeface="Tahoma" panose="020B0604030504040204" pitchFamily="34" charset="0"/>
              <a:cs typeface="Times New Roman" panose="02020603050405020304" pitchFamily="18" charset="0"/>
            </a:endParaRPr>
          </a:p>
          <a:p>
            <a:pPr marL="285750" indent="-285750">
              <a:buFont typeface="Wingdings" panose="05000000000000000000" pitchFamily="2" charset="2"/>
              <a:buChar char="q"/>
            </a:pPr>
            <a:r>
              <a:rPr lang="en-US"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I have the ability to explore new technologies and apply them in projects, as I did while ensuring system integration between LDAP, IMAP, Dovecot, and databases.</a:t>
            </a:r>
          </a:p>
          <a:p>
            <a:endPar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583956621"/>
      </p:ext>
    </p:extLst>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75DF31-63A8-3600-CFA1-4950003950BA}"/>
              </a:ext>
            </a:extLst>
          </p:cNvPr>
          <p:cNvSpPr>
            <a:spLocks noGrp="1"/>
          </p:cNvSpPr>
          <p:nvPr>
            <p:ph type="title"/>
          </p:nvPr>
        </p:nvSpPr>
        <p:spPr/>
        <p:txBody>
          <a:bodyPr/>
          <a:lstStyle/>
          <a:p>
            <a:r>
              <a:rPr lang="en-IN" b="1" dirty="0">
                <a:solidFill>
                  <a:srgbClr val="FF0000"/>
                </a:solidFill>
                <a:latin typeface="Times New Roman" panose="02020603050405020304" pitchFamily="18" charset="0"/>
                <a:ea typeface="Tahoma" panose="020B0604030504040204" pitchFamily="34" charset="0"/>
                <a:cs typeface="Times New Roman" panose="02020603050405020304" pitchFamily="18" charset="0"/>
              </a:rPr>
              <a:t>5. Technologies Used</a:t>
            </a:r>
            <a:endParaRPr lang="en-IN" dirty="0">
              <a:solidFill>
                <a:srgbClr val="FF0000"/>
              </a:solidFill>
              <a:latin typeface="Times New Roman" panose="02020603050405020304" pitchFamily="18" charset="0"/>
              <a:ea typeface="Tahoma" panose="020B0604030504040204" pitchFamily="34" charset="0"/>
              <a:cs typeface="Times New Roman" panose="02020603050405020304" pitchFamily="18" charset="0"/>
            </a:endParaRPr>
          </a:p>
        </p:txBody>
      </p:sp>
      <p:sp>
        <p:nvSpPr>
          <p:cNvPr id="5" name="TextBox 4">
            <a:extLst>
              <a:ext uri="{FF2B5EF4-FFF2-40B4-BE49-F238E27FC236}">
                <a16:creationId xmlns:a16="http://schemas.microsoft.com/office/drawing/2014/main" id="{00C9B21C-8D47-55C6-C30B-963742F7A566}"/>
              </a:ext>
            </a:extLst>
          </p:cNvPr>
          <p:cNvSpPr txBox="1"/>
          <p:nvPr/>
        </p:nvSpPr>
        <p:spPr>
          <a:xfrm>
            <a:off x="201168" y="1102184"/>
            <a:ext cx="3200400" cy="400110"/>
          </a:xfrm>
          <a:prstGeom prst="rect">
            <a:avLst/>
          </a:prstGeom>
          <a:noFill/>
        </p:spPr>
        <p:txBody>
          <a:bodyPr wrap="square" rtlCol="0">
            <a:spAutoFit/>
          </a:bodyPr>
          <a:lstStyle/>
          <a:p>
            <a:r>
              <a:rPr lang="en-IN" sz="2000" b="1" dirty="0">
                <a:solidFill>
                  <a:srgbClr val="002060"/>
                </a:solidFill>
                <a:latin typeface="Times New Roman" panose="02020603050405020304" pitchFamily="18" charset="0"/>
                <a:ea typeface="Tahoma" panose="020B0604030504040204" pitchFamily="34" charset="0"/>
                <a:cs typeface="Times New Roman" panose="02020603050405020304" pitchFamily="18" charset="0"/>
              </a:rPr>
              <a:t>Backend &amp; Frameworks </a:t>
            </a:r>
          </a:p>
        </p:txBody>
      </p:sp>
      <p:sp>
        <p:nvSpPr>
          <p:cNvPr id="6" name="TextBox 5">
            <a:extLst>
              <a:ext uri="{FF2B5EF4-FFF2-40B4-BE49-F238E27FC236}">
                <a16:creationId xmlns:a16="http://schemas.microsoft.com/office/drawing/2014/main" id="{B7397D1D-941B-D6B2-CA4B-A0A45E9A50E6}"/>
              </a:ext>
            </a:extLst>
          </p:cNvPr>
          <p:cNvSpPr txBox="1"/>
          <p:nvPr/>
        </p:nvSpPr>
        <p:spPr>
          <a:xfrm>
            <a:off x="365760" y="1508390"/>
            <a:ext cx="2377440" cy="646331"/>
          </a:xfrm>
          <a:prstGeom prst="rect">
            <a:avLst/>
          </a:prstGeom>
          <a:noFill/>
        </p:spPr>
        <p:txBody>
          <a:bodyPr wrap="square" rtlCol="0">
            <a:spAutoFit/>
          </a:bodyPr>
          <a:lstStyle/>
          <a:p>
            <a:pPr marL="285750" indent="-285750">
              <a:buFont typeface="Wingdings" panose="05000000000000000000" pitchFamily="2" charset="2"/>
              <a:buChar char="q"/>
            </a:pPr>
            <a:r>
              <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Java </a:t>
            </a:r>
          </a:p>
          <a:p>
            <a:pPr marL="285750" indent="-285750">
              <a:buFont typeface="Wingdings" panose="05000000000000000000" pitchFamily="2" charset="2"/>
              <a:buChar char="q"/>
            </a:pPr>
            <a:r>
              <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Spring Boot</a:t>
            </a:r>
          </a:p>
        </p:txBody>
      </p:sp>
      <p:sp>
        <p:nvSpPr>
          <p:cNvPr id="7" name="TextBox 6">
            <a:extLst>
              <a:ext uri="{FF2B5EF4-FFF2-40B4-BE49-F238E27FC236}">
                <a16:creationId xmlns:a16="http://schemas.microsoft.com/office/drawing/2014/main" id="{F4756E8B-362B-3B50-E1D8-DEB68E7CDF35}"/>
              </a:ext>
            </a:extLst>
          </p:cNvPr>
          <p:cNvSpPr txBox="1"/>
          <p:nvPr/>
        </p:nvSpPr>
        <p:spPr>
          <a:xfrm>
            <a:off x="201168" y="2150832"/>
            <a:ext cx="3200400" cy="400110"/>
          </a:xfrm>
          <a:prstGeom prst="rect">
            <a:avLst/>
          </a:prstGeom>
          <a:noFill/>
        </p:spPr>
        <p:txBody>
          <a:bodyPr wrap="square" rtlCol="0">
            <a:spAutoFit/>
          </a:bodyPr>
          <a:lstStyle/>
          <a:p>
            <a:r>
              <a:rPr lang="en-IN" sz="2000" b="1" dirty="0">
                <a:solidFill>
                  <a:srgbClr val="002060"/>
                </a:solidFill>
                <a:latin typeface="Times New Roman" panose="02020603050405020304" pitchFamily="18" charset="0"/>
                <a:ea typeface="Tahoma" panose="020B0604030504040204" pitchFamily="34" charset="0"/>
                <a:cs typeface="Times New Roman" panose="02020603050405020304" pitchFamily="18" charset="0"/>
              </a:rPr>
              <a:t>Mail &amp; Security Servers</a:t>
            </a:r>
          </a:p>
        </p:txBody>
      </p:sp>
      <p:sp>
        <p:nvSpPr>
          <p:cNvPr id="8" name="TextBox 7">
            <a:extLst>
              <a:ext uri="{FF2B5EF4-FFF2-40B4-BE49-F238E27FC236}">
                <a16:creationId xmlns:a16="http://schemas.microsoft.com/office/drawing/2014/main" id="{BC15A60A-6877-A52E-3FED-80F17885C563}"/>
              </a:ext>
            </a:extLst>
          </p:cNvPr>
          <p:cNvSpPr txBox="1"/>
          <p:nvPr/>
        </p:nvSpPr>
        <p:spPr>
          <a:xfrm>
            <a:off x="377952" y="2482277"/>
            <a:ext cx="1865376" cy="923330"/>
          </a:xfrm>
          <a:prstGeom prst="rect">
            <a:avLst/>
          </a:prstGeom>
          <a:noFill/>
        </p:spPr>
        <p:txBody>
          <a:bodyPr wrap="square" rtlCol="0">
            <a:spAutoFit/>
          </a:bodyPr>
          <a:lstStyle/>
          <a:p>
            <a:pPr marL="285750" indent="-285750">
              <a:buFont typeface="Wingdings" panose="05000000000000000000" pitchFamily="2" charset="2"/>
              <a:buChar char="q"/>
            </a:pPr>
            <a:r>
              <a:rPr lang="en-US"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Postfix</a:t>
            </a:r>
          </a:p>
          <a:p>
            <a:pPr marL="285750" indent="-285750">
              <a:buFont typeface="Wingdings" panose="05000000000000000000" pitchFamily="2" charset="2"/>
              <a:buChar char="q"/>
            </a:pPr>
            <a:r>
              <a:rPr lang="en-US"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Dovecot</a:t>
            </a:r>
          </a:p>
          <a:p>
            <a:pPr marL="285750" indent="-285750">
              <a:buFont typeface="Wingdings" panose="05000000000000000000" pitchFamily="2" charset="2"/>
              <a:buChar char="q"/>
            </a:pPr>
            <a:r>
              <a:rPr lang="en-US"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LDAP</a:t>
            </a:r>
            <a:endPar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endParaRPr>
          </a:p>
        </p:txBody>
      </p:sp>
      <p:sp>
        <p:nvSpPr>
          <p:cNvPr id="9" name="TextBox 8">
            <a:extLst>
              <a:ext uri="{FF2B5EF4-FFF2-40B4-BE49-F238E27FC236}">
                <a16:creationId xmlns:a16="http://schemas.microsoft.com/office/drawing/2014/main" id="{36E25805-628C-1B6B-C605-C672D8D3FEA6}"/>
              </a:ext>
            </a:extLst>
          </p:cNvPr>
          <p:cNvSpPr txBox="1"/>
          <p:nvPr/>
        </p:nvSpPr>
        <p:spPr>
          <a:xfrm>
            <a:off x="222504" y="3392148"/>
            <a:ext cx="1517904" cy="400110"/>
          </a:xfrm>
          <a:prstGeom prst="rect">
            <a:avLst/>
          </a:prstGeom>
          <a:noFill/>
        </p:spPr>
        <p:txBody>
          <a:bodyPr wrap="square" rtlCol="0">
            <a:spAutoFit/>
          </a:bodyPr>
          <a:lstStyle/>
          <a:p>
            <a:r>
              <a:rPr lang="en-US" sz="2000" b="1" dirty="0">
                <a:solidFill>
                  <a:srgbClr val="002060"/>
                </a:solidFill>
                <a:latin typeface="Times New Roman" panose="02020603050405020304" pitchFamily="18" charset="0"/>
                <a:ea typeface="Tahoma" panose="020B0604030504040204" pitchFamily="34" charset="0"/>
                <a:cs typeface="Times New Roman" panose="02020603050405020304" pitchFamily="18" charset="0"/>
              </a:rPr>
              <a:t>Protocols</a:t>
            </a:r>
            <a:endParaRPr lang="en-IN" sz="2000" b="1" dirty="0">
              <a:solidFill>
                <a:srgbClr val="002060"/>
              </a:solidFill>
              <a:latin typeface="Times New Roman" panose="02020603050405020304" pitchFamily="18" charset="0"/>
              <a:ea typeface="Tahoma" panose="020B0604030504040204" pitchFamily="34" charset="0"/>
              <a:cs typeface="Times New Roman" panose="02020603050405020304" pitchFamily="18" charset="0"/>
            </a:endParaRPr>
          </a:p>
        </p:txBody>
      </p:sp>
      <p:sp>
        <p:nvSpPr>
          <p:cNvPr id="10" name="TextBox 9">
            <a:extLst>
              <a:ext uri="{FF2B5EF4-FFF2-40B4-BE49-F238E27FC236}">
                <a16:creationId xmlns:a16="http://schemas.microsoft.com/office/drawing/2014/main" id="{50D4237E-8729-628A-0990-E36F71CD0B9C}"/>
              </a:ext>
            </a:extLst>
          </p:cNvPr>
          <p:cNvSpPr txBox="1"/>
          <p:nvPr/>
        </p:nvSpPr>
        <p:spPr>
          <a:xfrm>
            <a:off x="377952" y="3802586"/>
            <a:ext cx="2194560" cy="646331"/>
          </a:xfrm>
          <a:prstGeom prst="rect">
            <a:avLst/>
          </a:prstGeom>
          <a:noFill/>
        </p:spPr>
        <p:txBody>
          <a:bodyPr wrap="square" rtlCol="0">
            <a:spAutoFit/>
          </a:bodyPr>
          <a:lstStyle/>
          <a:p>
            <a:pPr marL="285750" indent="-285750">
              <a:buFont typeface="Wingdings" panose="05000000000000000000" pitchFamily="2" charset="2"/>
              <a:buChar char="q"/>
            </a:pPr>
            <a:r>
              <a:rPr lang="en-US"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SMTP Protocol</a:t>
            </a:r>
          </a:p>
          <a:p>
            <a:pPr marL="285750" indent="-285750">
              <a:buFont typeface="Wingdings" panose="05000000000000000000" pitchFamily="2" charset="2"/>
              <a:buChar char="q"/>
            </a:pPr>
            <a:r>
              <a:rPr lang="en-US"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IMAP Protocol</a:t>
            </a:r>
            <a:endPar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endParaRPr>
          </a:p>
        </p:txBody>
      </p:sp>
      <p:sp>
        <p:nvSpPr>
          <p:cNvPr id="11" name="TextBox 10">
            <a:extLst>
              <a:ext uri="{FF2B5EF4-FFF2-40B4-BE49-F238E27FC236}">
                <a16:creationId xmlns:a16="http://schemas.microsoft.com/office/drawing/2014/main" id="{B601F3A5-740D-E8F4-C86C-C2695FF45D76}"/>
              </a:ext>
            </a:extLst>
          </p:cNvPr>
          <p:cNvSpPr txBox="1"/>
          <p:nvPr/>
        </p:nvSpPr>
        <p:spPr>
          <a:xfrm>
            <a:off x="234696" y="4384141"/>
            <a:ext cx="1517904" cy="400110"/>
          </a:xfrm>
          <a:prstGeom prst="rect">
            <a:avLst/>
          </a:prstGeom>
          <a:noFill/>
        </p:spPr>
        <p:txBody>
          <a:bodyPr wrap="square" rtlCol="0">
            <a:spAutoFit/>
          </a:bodyPr>
          <a:lstStyle/>
          <a:p>
            <a:r>
              <a:rPr lang="en-US" sz="2000" b="1" dirty="0">
                <a:solidFill>
                  <a:srgbClr val="002060"/>
                </a:solidFill>
                <a:latin typeface="Times New Roman" panose="02020603050405020304" pitchFamily="18" charset="0"/>
                <a:ea typeface="Tahoma" panose="020B0604030504040204" pitchFamily="34" charset="0"/>
                <a:cs typeface="Times New Roman" panose="02020603050405020304" pitchFamily="18" charset="0"/>
              </a:rPr>
              <a:t>Database</a:t>
            </a:r>
            <a:endParaRPr lang="en-IN" sz="2000" b="1" dirty="0">
              <a:solidFill>
                <a:srgbClr val="002060"/>
              </a:solidFill>
              <a:latin typeface="Times New Roman" panose="02020603050405020304" pitchFamily="18" charset="0"/>
              <a:ea typeface="Tahoma" panose="020B0604030504040204" pitchFamily="34" charset="0"/>
              <a:cs typeface="Times New Roman" panose="02020603050405020304" pitchFamily="18" charset="0"/>
            </a:endParaRPr>
          </a:p>
        </p:txBody>
      </p:sp>
      <p:sp>
        <p:nvSpPr>
          <p:cNvPr id="12" name="TextBox 11">
            <a:extLst>
              <a:ext uri="{FF2B5EF4-FFF2-40B4-BE49-F238E27FC236}">
                <a16:creationId xmlns:a16="http://schemas.microsoft.com/office/drawing/2014/main" id="{DFFF7738-BF1B-348A-C778-6563004F22FE}"/>
              </a:ext>
            </a:extLst>
          </p:cNvPr>
          <p:cNvSpPr txBox="1"/>
          <p:nvPr/>
        </p:nvSpPr>
        <p:spPr>
          <a:xfrm>
            <a:off x="377952" y="4871749"/>
            <a:ext cx="3986784" cy="369332"/>
          </a:xfrm>
          <a:prstGeom prst="rect">
            <a:avLst/>
          </a:prstGeom>
          <a:noFill/>
        </p:spPr>
        <p:txBody>
          <a:bodyPr wrap="square" rtlCol="0">
            <a:spAutoFit/>
          </a:bodyPr>
          <a:lstStyle/>
          <a:p>
            <a:pPr marL="285750" indent="-285750">
              <a:buFont typeface="Wingdings" panose="05000000000000000000" pitchFamily="2" charset="2"/>
              <a:buChar char="q"/>
            </a:pPr>
            <a:r>
              <a:rPr lang="en-US"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Relational Database :Postgres SQL</a:t>
            </a:r>
            <a:endPar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endParaRPr>
          </a:p>
        </p:txBody>
      </p:sp>
      <p:sp>
        <p:nvSpPr>
          <p:cNvPr id="13" name="TextBox 12">
            <a:extLst>
              <a:ext uri="{FF2B5EF4-FFF2-40B4-BE49-F238E27FC236}">
                <a16:creationId xmlns:a16="http://schemas.microsoft.com/office/drawing/2014/main" id="{14F32F6D-5B04-AA61-0D78-80173E455572}"/>
              </a:ext>
            </a:extLst>
          </p:cNvPr>
          <p:cNvSpPr txBox="1"/>
          <p:nvPr/>
        </p:nvSpPr>
        <p:spPr>
          <a:xfrm>
            <a:off x="201168" y="5300451"/>
            <a:ext cx="2517648" cy="400110"/>
          </a:xfrm>
          <a:prstGeom prst="rect">
            <a:avLst/>
          </a:prstGeom>
          <a:noFill/>
        </p:spPr>
        <p:txBody>
          <a:bodyPr wrap="square" rtlCol="0">
            <a:spAutoFit/>
          </a:bodyPr>
          <a:lstStyle/>
          <a:p>
            <a:r>
              <a:rPr lang="en-US" sz="2000" b="1" dirty="0">
                <a:solidFill>
                  <a:srgbClr val="002060"/>
                </a:solidFill>
                <a:latin typeface="Times New Roman" panose="02020603050405020304" pitchFamily="18" charset="0"/>
                <a:ea typeface="Tahoma" panose="020B0604030504040204" pitchFamily="34" charset="0"/>
                <a:cs typeface="Times New Roman" panose="02020603050405020304" pitchFamily="18" charset="0"/>
              </a:rPr>
              <a:t>Operating System</a:t>
            </a:r>
            <a:endParaRPr lang="en-IN" sz="2000" b="1" dirty="0">
              <a:solidFill>
                <a:srgbClr val="002060"/>
              </a:solidFill>
              <a:latin typeface="Times New Roman" panose="02020603050405020304" pitchFamily="18" charset="0"/>
              <a:ea typeface="Tahoma" panose="020B0604030504040204" pitchFamily="34" charset="0"/>
              <a:cs typeface="Times New Roman" panose="02020603050405020304" pitchFamily="18" charset="0"/>
            </a:endParaRPr>
          </a:p>
        </p:txBody>
      </p:sp>
      <p:sp>
        <p:nvSpPr>
          <p:cNvPr id="14" name="TextBox 13">
            <a:extLst>
              <a:ext uri="{FF2B5EF4-FFF2-40B4-BE49-F238E27FC236}">
                <a16:creationId xmlns:a16="http://schemas.microsoft.com/office/drawing/2014/main" id="{2C5F026F-5643-6376-415E-5DA9F1111974}"/>
              </a:ext>
            </a:extLst>
          </p:cNvPr>
          <p:cNvSpPr txBox="1"/>
          <p:nvPr/>
        </p:nvSpPr>
        <p:spPr>
          <a:xfrm>
            <a:off x="371117" y="5743733"/>
            <a:ext cx="1947672" cy="369332"/>
          </a:xfrm>
          <a:prstGeom prst="rect">
            <a:avLst/>
          </a:prstGeom>
          <a:noFill/>
        </p:spPr>
        <p:txBody>
          <a:bodyPr wrap="square" rtlCol="0">
            <a:spAutoFit/>
          </a:bodyPr>
          <a:lstStyle/>
          <a:p>
            <a:pPr marL="285750" indent="-285750">
              <a:buFont typeface="Wingdings" panose="05000000000000000000" pitchFamily="2" charset="2"/>
              <a:buChar char="q"/>
            </a:pPr>
            <a:r>
              <a:rPr lang="en-US" dirty="0">
                <a:solidFill>
                  <a:srgbClr val="0070C0"/>
                </a:solidFill>
                <a:latin typeface="Times New Roman" panose="02020603050405020304" pitchFamily="18" charset="0"/>
                <a:ea typeface="Tahoma" panose="020B0604030504040204" pitchFamily="34" charset="0"/>
                <a:cs typeface="Times New Roman" panose="02020603050405020304" pitchFamily="18" charset="0"/>
              </a:rPr>
              <a:t>WSL-Ubuntu</a:t>
            </a:r>
            <a:endParaRPr lang="en-IN" dirty="0">
              <a:solidFill>
                <a:srgbClr val="0070C0"/>
              </a:solidFill>
              <a:latin typeface="Times New Roman" panose="02020603050405020304" pitchFamily="18" charset="0"/>
              <a:ea typeface="Tahom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832184190"/>
      </p:ext>
    </p:extLst>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a:blip r:embed="rId2" cstate="print"/>
          <a:srcRect/>
          <a:stretch>
            <a:fillRect/>
          </a:stretch>
        </p:blipFill>
        <p:spPr bwMode="auto">
          <a:xfrm>
            <a:off x="2895600" y="4419600"/>
            <a:ext cx="4291012" cy="1519238"/>
          </a:xfrm>
          <a:prstGeom prst="rect">
            <a:avLst/>
          </a:prstGeom>
          <a:noFill/>
          <a:ln w="9525">
            <a:noFill/>
            <a:miter lim="800000"/>
            <a:headEnd/>
            <a:tailEnd/>
          </a:ln>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75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bel">
      <a:dk1>
        <a:srgbClr val="1F497D"/>
      </a:dk1>
      <a:lt1>
        <a:sysClr val="window" lastClr="FFFFFF"/>
      </a:lt1>
      <a:dk2>
        <a:srgbClr val="595959"/>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16789</TotalTime>
  <Words>737</Words>
  <Application>Microsoft Office PowerPoint</Application>
  <PresentationFormat>On-screen Show (4:3)</PresentationFormat>
  <Paragraphs>111</Paragraphs>
  <Slides>11</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vt:i4>
      </vt:variant>
    </vt:vector>
  </HeadingPairs>
  <TitlesOfParts>
    <vt:vector size="17" baseType="lpstr">
      <vt:lpstr>Arial</vt:lpstr>
      <vt:lpstr>Calibri</vt:lpstr>
      <vt:lpstr>Tahoma</vt:lpstr>
      <vt:lpstr>Times New Roman</vt:lpstr>
      <vt:lpstr>Wingdings</vt:lpstr>
      <vt:lpstr>Office Theme</vt:lpstr>
      <vt:lpstr>PowerPoint Presentation</vt:lpstr>
      <vt:lpstr>1. Project Understanding</vt:lpstr>
      <vt:lpstr>Project Understanding contd..</vt:lpstr>
      <vt:lpstr>Project Understanding contd..</vt:lpstr>
      <vt:lpstr>2. What I Have Learnt?</vt:lpstr>
      <vt:lpstr>What I Have Learnt? Contd..</vt:lpstr>
      <vt:lpstr>3. Key Contribution</vt:lpstr>
      <vt:lpstr>Key Contribution Contd..</vt:lpstr>
      <vt:lpstr>4. Suitability of the Work</vt:lpstr>
      <vt:lpstr>5. Technologies Used</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srishti</dc:creator>
  <cp:lastModifiedBy>BSTC</cp:lastModifiedBy>
  <cp:revision>984</cp:revision>
  <cp:lastPrinted>2017-04-25T08:06:12Z</cp:lastPrinted>
  <dcterms:created xsi:type="dcterms:W3CDTF">2014-11-15T12:35:25Z</dcterms:created>
  <dcterms:modified xsi:type="dcterms:W3CDTF">2026-01-10T05:01:07Z</dcterms:modified>
</cp:coreProperties>
</file>